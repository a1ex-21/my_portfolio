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2" r:id="rId17"/>
    <p:sldId id="271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944" autoAdjust="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My%20Portfolio\Case%20Studies\Web%20Scraping\Grayce\NVIDIA%20Revenue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My%20Portfolio\Case%20Studies\Web%20Scraping\Grayce\Intel%20Revenue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E:\My%20Portfolio\Case%20Studies\Web%20Scraping\Grayce\Intel%20Revenue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NVIDIA Quarterly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'NVIDIA Revenue'!$B$1</c:f>
              <c:strCache>
                <c:ptCount val="1"/>
                <c:pt idx="0">
                  <c:v>Revenue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'NVIDIA Revenue'!$A$2:$A$61</c:f>
              <c:numCache>
                <c:formatCode>m/d/yyyy</c:formatCode>
                <c:ptCount val="60"/>
                <c:pt idx="0">
                  <c:v>40755</c:v>
                </c:pt>
                <c:pt idx="1">
                  <c:v>40847</c:v>
                </c:pt>
                <c:pt idx="2">
                  <c:v>40939</c:v>
                </c:pt>
                <c:pt idx="3">
                  <c:v>41029</c:v>
                </c:pt>
                <c:pt idx="4">
                  <c:v>41121</c:v>
                </c:pt>
                <c:pt idx="5">
                  <c:v>41213</c:v>
                </c:pt>
                <c:pt idx="6">
                  <c:v>41305</c:v>
                </c:pt>
                <c:pt idx="7">
                  <c:v>41394</c:v>
                </c:pt>
                <c:pt idx="8">
                  <c:v>41486</c:v>
                </c:pt>
                <c:pt idx="9">
                  <c:v>41578</c:v>
                </c:pt>
                <c:pt idx="10">
                  <c:v>41670</c:v>
                </c:pt>
                <c:pt idx="11">
                  <c:v>41759</c:v>
                </c:pt>
                <c:pt idx="12">
                  <c:v>41851</c:v>
                </c:pt>
                <c:pt idx="13">
                  <c:v>41943</c:v>
                </c:pt>
                <c:pt idx="14">
                  <c:v>42035</c:v>
                </c:pt>
                <c:pt idx="15">
                  <c:v>42124</c:v>
                </c:pt>
                <c:pt idx="16">
                  <c:v>42216</c:v>
                </c:pt>
                <c:pt idx="17">
                  <c:v>42308</c:v>
                </c:pt>
                <c:pt idx="18">
                  <c:v>42400</c:v>
                </c:pt>
                <c:pt idx="19">
                  <c:v>42490</c:v>
                </c:pt>
                <c:pt idx="20">
                  <c:v>42582</c:v>
                </c:pt>
                <c:pt idx="21">
                  <c:v>42674</c:v>
                </c:pt>
                <c:pt idx="22">
                  <c:v>42766</c:v>
                </c:pt>
                <c:pt idx="23">
                  <c:v>42855</c:v>
                </c:pt>
                <c:pt idx="24">
                  <c:v>42947</c:v>
                </c:pt>
                <c:pt idx="25">
                  <c:v>43039</c:v>
                </c:pt>
                <c:pt idx="26">
                  <c:v>43131</c:v>
                </c:pt>
                <c:pt idx="27">
                  <c:v>43220</c:v>
                </c:pt>
                <c:pt idx="28">
                  <c:v>43312</c:v>
                </c:pt>
                <c:pt idx="29">
                  <c:v>43404</c:v>
                </c:pt>
                <c:pt idx="30">
                  <c:v>43496</c:v>
                </c:pt>
                <c:pt idx="31">
                  <c:v>43585</c:v>
                </c:pt>
                <c:pt idx="32">
                  <c:v>43677</c:v>
                </c:pt>
                <c:pt idx="33">
                  <c:v>43769</c:v>
                </c:pt>
                <c:pt idx="34">
                  <c:v>43861</c:v>
                </c:pt>
                <c:pt idx="35">
                  <c:v>43951</c:v>
                </c:pt>
                <c:pt idx="36">
                  <c:v>44043</c:v>
                </c:pt>
                <c:pt idx="37">
                  <c:v>44135</c:v>
                </c:pt>
                <c:pt idx="38">
                  <c:v>44227</c:v>
                </c:pt>
                <c:pt idx="39">
                  <c:v>44316</c:v>
                </c:pt>
                <c:pt idx="40">
                  <c:v>44408</c:v>
                </c:pt>
                <c:pt idx="41">
                  <c:v>44500</c:v>
                </c:pt>
                <c:pt idx="42">
                  <c:v>44592</c:v>
                </c:pt>
                <c:pt idx="43">
                  <c:v>44681</c:v>
                </c:pt>
                <c:pt idx="44">
                  <c:v>44773</c:v>
                </c:pt>
                <c:pt idx="45">
                  <c:v>44865</c:v>
                </c:pt>
                <c:pt idx="46">
                  <c:v>44957</c:v>
                </c:pt>
                <c:pt idx="47">
                  <c:v>45046</c:v>
                </c:pt>
                <c:pt idx="48">
                  <c:v>45138</c:v>
                </c:pt>
                <c:pt idx="49">
                  <c:v>45230</c:v>
                </c:pt>
                <c:pt idx="50">
                  <c:v>45322</c:v>
                </c:pt>
                <c:pt idx="51">
                  <c:v>45412</c:v>
                </c:pt>
                <c:pt idx="52">
                  <c:v>45504</c:v>
                </c:pt>
                <c:pt idx="53">
                  <c:v>45596</c:v>
                </c:pt>
                <c:pt idx="54">
                  <c:v>45688</c:v>
                </c:pt>
                <c:pt idx="55">
                  <c:v>45777</c:v>
                </c:pt>
                <c:pt idx="56">
                  <c:v>45869</c:v>
                </c:pt>
                <c:pt idx="57">
                  <c:v>45961</c:v>
                </c:pt>
                <c:pt idx="58">
                  <c:v>46053</c:v>
                </c:pt>
                <c:pt idx="59">
                  <c:v>46142</c:v>
                </c:pt>
              </c:numCache>
            </c:numRef>
          </c:cat>
          <c:val>
            <c:numRef>
              <c:f>'NVIDIA Revenue'!$B$2:$B$61</c:f>
              <c:numCache>
                <c:formatCode>General</c:formatCode>
                <c:ptCount val="60"/>
                <c:pt idx="0">
                  <c:v>1017</c:v>
                </c:pt>
                <c:pt idx="1">
                  <c:v>1066</c:v>
                </c:pt>
                <c:pt idx="2">
                  <c:v>953</c:v>
                </c:pt>
                <c:pt idx="3">
                  <c:v>925</c:v>
                </c:pt>
                <c:pt idx="4">
                  <c:v>1044</c:v>
                </c:pt>
                <c:pt idx="5">
                  <c:v>1204</c:v>
                </c:pt>
                <c:pt idx="6">
                  <c:v>1107</c:v>
                </c:pt>
                <c:pt idx="7">
                  <c:v>955</c:v>
                </c:pt>
                <c:pt idx="8">
                  <c:v>977</c:v>
                </c:pt>
                <c:pt idx="9">
                  <c:v>1054</c:v>
                </c:pt>
                <c:pt idx="10">
                  <c:v>1144</c:v>
                </c:pt>
                <c:pt idx="11">
                  <c:v>1103</c:v>
                </c:pt>
                <c:pt idx="12">
                  <c:v>1103</c:v>
                </c:pt>
                <c:pt idx="13">
                  <c:v>1225</c:v>
                </c:pt>
                <c:pt idx="14">
                  <c:v>1251</c:v>
                </c:pt>
                <c:pt idx="15">
                  <c:v>1151</c:v>
                </c:pt>
                <c:pt idx="16">
                  <c:v>1153</c:v>
                </c:pt>
                <c:pt idx="17">
                  <c:v>1305</c:v>
                </c:pt>
                <c:pt idx="18">
                  <c:v>1401</c:v>
                </c:pt>
                <c:pt idx="19">
                  <c:v>1305</c:v>
                </c:pt>
                <c:pt idx="20">
                  <c:v>1428</c:v>
                </c:pt>
                <c:pt idx="21">
                  <c:v>2004</c:v>
                </c:pt>
                <c:pt idx="22">
                  <c:v>2173</c:v>
                </c:pt>
                <c:pt idx="23">
                  <c:v>1937</c:v>
                </c:pt>
                <c:pt idx="24">
                  <c:v>2230</c:v>
                </c:pt>
                <c:pt idx="25">
                  <c:v>2636</c:v>
                </c:pt>
                <c:pt idx="26">
                  <c:v>2911</c:v>
                </c:pt>
                <c:pt idx="27">
                  <c:v>3207</c:v>
                </c:pt>
                <c:pt idx="28">
                  <c:v>3123</c:v>
                </c:pt>
                <c:pt idx="29">
                  <c:v>3181</c:v>
                </c:pt>
                <c:pt idx="30">
                  <c:v>2205</c:v>
                </c:pt>
                <c:pt idx="31">
                  <c:v>2220</c:v>
                </c:pt>
                <c:pt idx="32">
                  <c:v>2579</c:v>
                </c:pt>
                <c:pt idx="33">
                  <c:v>3014</c:v>
                </c:pt>
                <c:pt idx="34">
                  <c:v>3105</c:v>
                </c:pt>
                <c:pt idx="35">
                  <c:v>3080</c:v>
                </c:pt>
                <c:pt idx="36">
                  <c:v>3866</c:v>
                </c:pt>
                <c:pt idx="37">
                  <c:v>4726</c:v>
                </c:pt>
                <c:pt idx="38">
                  <c:v>5003</c:v>
                </c:pt>
                <c:pt idx="39">
                  <c:v>5661</c:v>
                </c:pt>
                <c:pt idx="40">
                  <c:v>6507</c:v>
                </c:pt>
                <c:pt idx="41">
                  <c:v>7103</c:v>
                </c:pt>
                <c:pt idx="42">
                  <c:v>7643</c:v>
                </c:pt>
                <c:pt idx="43">
                  <c:v>8288</c:v>
                </c:pt>
                <c:pt idx="44">
                  <c:v>6704</c:v>
                </c:pt>
                <c:pt idx="45">
                  <c:v>5931</c:v>
                </c:pt>
                <c:pt idx="46">
                  <c:v>6051</c:v>
                </c:pt>
                <c:pt idx="47">
                  <c:v>7192</c:v>
                </c:pt>
                <c:pt idx="48">
                  <c:v>13507</c:v>
                </c:pt>
                <c:pt idx="49">
                  <c:v>18120</c:v>
                </c:pt>
                <c:pt idx="50">
                  <c:v>22103</c:v>
                </c:pt>
                <c:pt idx="51">
                  <c:v>26044</c:v>
                </c:pt>
                <c:pt idx="52">
                  <c:v>30040</c:v>
                </c:pt>
                <c:pt idx="53">
                  <c:v>35082</c:v>
                </c:pt>
                <c:pt idx="54">
                  <c:v>39331</c:v>
                </c:pt>
                <c:pt idx="55">
                  <c:v>44062</c:v>
                </c:pt>
                <c:pt idx="56">
                  <c:v>46743</c:v>
                </c:pt>
                <c:pt idx="57">
                  <c:v>57006</c:v>
                </c:pt>
                <c:pt idx="58">
                  <c:v>68127</c:v>
                </c:pt>
                <c:pt idx="59">
                  <c:v>81615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074-48EA-8FE5-53BB2A575A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32365584"/>
        <c:axId val="1132354976"/>
      </c:lineChart>
      <c:scatterChart>
        <c:scatterStyle val="lineMarker"/>
        <c:varyColors val="0"/>
        <c:ser>
          <c:idx val="1"/>
          <c:order val="1"/>
          <c:tx>
            <c:v>The AI Boom</c:v>
          </c:tx>
          <c:spPr>
            <a:ln w="28575" cap="rnd">
              <a:solidFill>
                <a:srgbClr val="FF0000"/>
              </a:solidFill>
              <a:prstDash val="dash"/>
              <a:round/>
            </a:ln>
            <a:effectLst/>
          </c:spPr>
          <c:marker>
            <c:symbol val="none"/>
          </c:marker>
          <c:dPt>
            <c:idx val="1"/>
            <c:marker>
              <c:symbol val="none"/>
            </c:marker>
            <c:bubble3D val="0"/>
            <c:spPr>
              <a:ln w="25400" cap="rnd">
                <a:solidFill>
                  <a:srgbClr val="FF0000"/>
                </a:solidFill>
                <a:prstDash val="dash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2-0074-48EA-8FE5-53BB2A575AAB}"/>
              </c:ext>
            </c:extLst>
          </c:dPt>
          <c:xVal>
            <c:numRef>
              <c:f>'NVIDIA Revenue'!$C$2:$C$3</c:f>
              <c:numCache>
                <c:formatCode>m/d/yyyy</c:formatCode>
                <c:ptCount val="2"/>
                <c:pt idx="0">
                  <c:v>45046</c:v>
                </c:pt>
                <c:pt idx="1">
                  <c:v>45046</c:v>
                </c:pt>
              </c:numCache>
            </c:numRef>
          </c:xVal>
          <c:yVal>
            <c:numRef>
              <c:f>'NVIDIA Revenue'!$D$2:$D$3</c:f>
              <c:numCache>
                <c:formatCode>General</c:formatCode>
                <c:ptCount val="2"/>
                <c:pt idx="0">
                  <c:v>0</c:v>
                </c:pt>
                <c:pt idx="1">
                  <c:v>90000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0074-48EA-8FE5-53BB2A575A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32365584"/>
        <c:axId val="1132354976"/>
      </c:scatterChart>
      <c:dateAx>
        <c:axId val="1332365584"/>
        <c:scaling>
          <c:orientation val="minMax"/>
          <c:max val="46142"/>
          <c:min val="40755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Date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mmm\ yyyy" sourceLinked="0"/>
        <c:majorTickMark val="out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2354976"/>
        <c:crosses val="autoZero"/>
        <c:auto val="1"/>
        <c:lblOffset val="100"/>
        <c:baseTimeUnit val="months"/>
        <c:majorUnit val="8"/>
        <c:majorTimeUnit val="months"/>
      </c:dateAx>
      <c:valAx>
        <c:axId val="1132354976"/>
        <c:scaling>
          <c:orientation val="minMax"/>
        </c:scaling>
        <c:delete val="0"/>
        <c:axPos val="l"/>
        <c:majorGridlines>
          <c:spPr>
            <a:ln>
              <a:solidFill>
                <a:schemeClr val="tx1">
                  <a:lumMod val="15000"/>
                  <a:lumOff val="85000"/>
                </a:schemeClr>
              </a:solidFill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Revenue ($M)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23655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Intel Quarterly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'Intel Revenue'!$B$1</c:f>
              <c:strCache>
                <c:ptCount val="1"/>
                <c:pt idx="0">
                  <c:v>Revenue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'Intel Revenue'!$A$2:$A$61</c:f>
              <c:numCache>
                <c:formatCode>m/d/yyyy</c:formatCode>
                <c:ptCount val="60"/>
                <c:pt idx="0">
                  <c:v>40724</c:v>
                </c:pt>
                <c:pt idx="1">
                  <c:v>40816</c:v>
                </c:pt>
                <c:pt idx="2">
                  <c:v>40908</c:v>
                </c:pt>
                <c:pt idx="3">
                  <c:v>40999</c:v>
                </c:pt>
                <c:pt idx="4">
                  <c:v>41090</c:v>
                </c:pt>
                <c:pt idx="5">
                  <c:v>41182</c:v>
                </c:pt>
                <c:pt idx="6">
                  <c:v>41274</c:v>
                </c:pt>
                <c:pt idx="7">
                  <c:v>41364</c:v>
                </c:pt>
                <c:pt idx="8">
                  <c:v>41455</c:v>
                </c:pt>
                <c:pt idx="9">
                  <c:v>41547</c:v>
                </c:pt>
                <c:pt idx="10">
                  <c:v>41639</c:v>
                </c:pt>
                <c:pt idx="11">
                  <c:v>41729</c:v>
                </c:pt>
                <c:pt idx="12">
                  <c:v>41820</c:v>
                </c:pt>
                <c:pt idx="13">
                  <c:v>41912</c:v>
                </c:pt>
                <c:pt idx="14">
                  <c:v>42004</c:v>
                </c:pt>
                <c:pt idx="15">
                  <c:v>42094</c:v>
                </c:pt>
                <c:pt idx="16">
                  <c:v>42185</c:v>
                </c:pt>
                <c:pt idx="17">
                  <c:v>42277</c:v>
                </c:pt>
                <c:pt idx="18">
                  <c:v>42369</c:v>
                </c:pt>
                <c:pt idx="19">
                  <c:v>42460</c:v>
                </c:pt>
                <c:pt idx="20">
                  <c:v>42551</c:v>
                </c:pt>
                <c:pt idx="21">
                  <c:v>42643</c:v>
                </c:pt>
                <c:pt idx="22">
                  <c:v>42735</c:v>
                </c:pt>
                <c:pt idx="23">
                  <c:v>42825</c:v>
                </c:pt>
                <c:pt idx="24">
                  <c:v>42916</c:v>
                </c:pt>
                <c:pt idx="25">
                  <c:v>43008</c:v>
                </c:pt>
                <c:pt idx="26">
                  <c:v>43100</c:v>
                </c:pt>
                <c:pt idx="27">
                  <c:v>43190</c:v>
                </c:pt>
                <c:pt idx="28">
                  <c:v>43281</c:v>
                </c:pt>
                <c:pt idx="29">
                  <c:v>43373</c:v>
                </c:pt>
                <c:pt idx="30">
                  <c:v>43465</c:v>
                </c:pt>
                <c:pt idx="31">
                  <c:v>43555</c:v>
                </c:pt>
                <c:pt idx="32">
                  <c:v>43646</c:v>
                </c:pt>
                <c:pt idx="33">
                  <c:v>43738</c:v>
                </c:pt>
                <c:pt idx="34">
                  <c:v>43830</c:v>
                </c:pt>
                <c:pt idx="35">
                  <c:v>43921</c:v>
                </c:pt>
                <c:pt idx="36">
                  <c:v>44012</c:v>
                </c:pt>
                <c:pt idx="37">
                  <c:v>44104</c:v>
                </c:pt>
                <c:pt idx="38">
                  <c:v>44196</c:v>
                </c:pt>
                <c:pt idx="39">
                  <c:v>44286</c:v>
                </c:pt>
                <c:pt idx="40">
                  <c:v>44377</c:v>
                </c:pt>
                <c:pt idx="41">
                  <c:v>44469</c:v>
                </c:pt>
                <c:pt idx="42">
                  <c:v>44561</c:v>
                </c:pt>
                <c:pt idx="43">
                  <c:v>44651</c:v>
                </c:pt>
                <c:pt idx="44">
                  <c:v>44742</c:v>
                </c:pt>
                <c:pt idx="45">
                  <c:v>44834</c:v>
                </c:pt>
                <c:pt idx="46">
                  <c:v>44926</c:v>
                </c:pt>
                <c:pt idx="47">
                  <c:v>45016</c:v>
                </c:pt>
                <c:pt idx="48">
                  <c:v>45107</c:v>
                </c:pt>
                <c:pt idx="49">
                  <c:v>45199</c:v>
                </c:pt>
                <c:pt idx="50">
                  <c:v>45291</c:v>
                </c:pt>
                <c:pt idx="51">
                  <c:v>45382</c:v>
                </c:pt>
                <c:pt idx="52">
                  <c:v>45473</c:v>
                </c:pt>
                <c:pt idx="53">
                  <c:v>45565</c:v>
                </c:pt>
                <c:pt idx="54">
                  <c:v>45657</c:v>
                </c:pt>
                <c:pt idx="55">
                  <c:v>45747</c:v>
                </c:pt>
                <c:pt idx="56">
                  <c:v>45838</c:v>
                </c:pt>
                <c:pt idx="57">
                  <c:v>45930</c:v>
                </c:pt>
                <c:pt idx="58">
                  <c:v>46022</c:v>
                </c:pt>
                <c:pt idx="59">
                  <c:v>46112</c:v>
                </c:pt>
              </c:numCache>
            </c:numRef>
          </c:cat>
          <c:val>
            <c:numRef>
              <c:f>'Intel Revenue'!$B$2:$B$61</c:f>
              <c:numCache>
                <c:formatCode>General</c:formatCode>
                <c:ptCount val="60"/>
                <c:pt idx="0">
                  <c:v>13032</c:v>
                </c:pt>
                <c:pt idx="1">
                  <c:v>14233</c:v>
                </c:pt>
                <c:pt idx="2">
                  <c:v>13887</c:v>
                </c:pt>
                <c:pt idx="3">
                  <c:v>12906</c:v>
                </c:pt>
                <c:pt idx="4">
                  <c:v>13501</c:v>
                </c:pt>
                <c:pt idx="5">
                  <c:v>13457</c:v>
                </c:pt>
                <c:pt idx="6">
                  <c:v>13477</c:v>
                </c:pt>
                <c:pt idx="7">
                  <c:v>12580</c:v>
                </c:pt>
                <c:pt idx="8">
                  <c:v>12811</c:v>
                </c:pt>
                <c:pt idx="9">
                  <c:v>13483</c:v>
                </c:pt>
                <c:pt idx="10">
                  <c:v>13834</c:v>
                </c:pt>
                <c:pt idx="11">
                  <c:v>12764</c:v>
                </c:pt>
                <c:pt idx="12">
                  <c:v>13831</c:v>
                </c:pt>
                <c:pt idx="13">
                  <c:v>14554</c:v>
                </c:pt>
                <c:pt idx="14">
                  <c:v>14721</c:v>
                </c:pt>
                <c:pt idx="15">
                  <c:v>12781</c:v>
                </c:pt>
                <c:pt idx="16">
                  <c:v>13195</c:v>
                </c:pt>
                <c:pt idx="17">
                  <c:v>14465</c:v>
                </c:pt>
                <c:pt idx="18">
                  <c:v>14914</c:v>
                </c:pt>
                <c:pt idx="19">
                  <c:v>13702</c:v>
                </c:pt>
                <c:pt idx="20">
                  <c:v>13533</c:v>
                </c:pt>
                <c:pt idx="21">
                  <c:v>15778</c:v>
                </c:pt>
                <c:pt idx="22">
                  <c:v>16374</c:v>
                </c:pt>
                <c:pt idx="23">
                  <c:v>14796</c:v>
                </c:pt>
                <c:pt idx="24">
                  <c:v>14763</c:v>
                </c:pt>
                <c:pt idx="25">
                  <c:v>16149</c:v>
                </c:pt>
                <c:pt idx="26">
                  <c:v>17053</c:v>
                </c:pt>
                <c:pt idx="27">
                  <c:v>16066</c:v>
                </c:pt>
                <c:pt idx="28">
                  <c:v>16962</c:v>
                </c:pt>
                <c:pt idx="29">
                  <c:v>19163</c:v>
                </c:pt>
                <c:pt idx="30">
                  <c:v>18657</c:v>
                </c:pt>
                <c:pt idx="31">
                  <c:v>16061</c:v>
                </c:pt>
                <c:pt idx="32">
                  <c:v>16505</c:v>
                </c:pt>
                <c:pt idx="33">
                  <c:v>19190</c:v>
                </c:pt>
                <c:pt idx="34">
                  <c:v>20209</c:v>
                </c:pt>
                <c:pt idx="35">
                  <c:v>19828</c:v>
                </c:pt>
                <c:pt idx="36">
                  <c:v>19728</c:v>
                </c:pt>
                <c:pt idx="37">
                  <c:v>18333</c:v>
                </c:pt>
                <c:pt idx="38">
                  <c:v>19978</c:v>
                </c:pt>
                <c:pt idx="39">
                  <c:v>19673</c:v>
                </c:pt>
                <c:pt idx="40">
                  <c:v>19631</c:v>
                </c:pt>
                <c:pt idx="41">
                  <c:v>19192</c:v>
                </c:pt>
                <c:pt idx="42">
                  <c:v>20528</c:v>
                </c:pt>
                <c:pt idx="43">
                  <c:v>18353</c:v>
                </c:pt>
                <c:pt idx="44">
                  <c:v>15321</c:v>
                </c:pt>
                <c:pt idx="45">
                  <c:v>15338</c:v>
                </c:pt>
                <c:pt idx="46">
                  <c:v>14042</c:v>
                </c:pt>
                <c:pt idx="47">
                  <c:v>11715</c:v>
                </c:pt>
                <c:pt idx="48">
                  <c:v>12949</c:v>
                </c:pt>
                <c:pt idx="49">
                  <c:v>14158</c:v>
                </c:pt>
                <c:pt idx="50">
                  <c:v>15406</c:v>
                </c:pt>
                <c:pt idx="51">
                  <c:v>12724</c:v>
                </c:pt>
                <c:pt idx="52">
                  <c:v>12833</c:v>
                </c:pt>
                <c:pt idx="53">
                  <c:v>13284</c:v>
                </c:pt>
                <c:pt idx="54">
                  <c:v>14260</c:v>
                </c:pt>
                <c:pt idx="55">
                  <c:v>12667</c:v>
                </c:pt>
                <c:pt idx="56">
                  <c:v>12859</c:v>
                </c:pt>
                <c:pt idx="57">
                  <c:v>13653</c:v>
                </c:pt>
                <c:pt idx="58">
                  <c:v>13674</c:v>
                </c:pt>
                <c:pt idx="59">
                  <c:v>13577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0B7-4AF2-94BF-FFC4B5810E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25261408"/>
        <c:axId val="1125262848"/>
      </c:lineChart>
      <c:scatterChart>
        <c:scatterStyle val="lineMarker"/>
        <c:varyColors val="0"/>
        <c:ser>
          <c:idx val="1"/>
          <c:order val="1"/>
          <c:tx>
            <c:v>The AI Boom</c:v>
          </c:tx>
          <c:spPr>
            <a:ln w="25400" cap="rnd">
              <a:solidFill>
                <a:srgbClr val="FF0000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'Intel Revenue'!$C$2:$C$3</c:f>
              <c:numCache>
                <c:formatCode>m/d/yyyy</c:formatCode>
                <c:ptCount val="2"/>
                <c:pt idx="0">
                  <c:v>45107</c:v>
                </c:pt>
                <c:pt idx="1">
                  <c:v>45107</c:v>
                </c:pt>
              </c:numCache>
            </c:numRef>
          </c:xVal>
          <c:yVal>
            <c:numRef>
              <c:f>'Intel Revenue'!$D$2:$D$3</c:f>
              <c:numCache>
                <c:formatCode>General</c:formatCode>
                <c:ptCount val="2"/>
                <c:pt idx="0">
                  <c:v>0</c:v>
                </c:pt>
                <c:pt idx="1">
                  <c:v>25000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0B7-4AF2-94BF-FFC4B5810E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25261408"/>
        <c:axId val="1125262848"/>
      </c:scatterChart>
      <c:dateAx>
        <c:axId val="1125261408"/>
        <c:scaling>
          <c:orientation val="minMax"/>
          <c:max val="46112"/>
          <c:min val="40724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Date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mmm\ yyyy" sourceLinked="0"/>
        <c:majorTickMark val="out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5262848"/>
        <c:crosses val="autoZero"/>
        <c:auto val="1"/>
        <c:lblOffset val="100"/>
        <c:baseTimeUnit val="months"/>
        <c:majorUnit val="8"/>
        <c:majorTimeUnit val="months"/>
      </c:dateAx>
      <c:valAx>
        <c:axId val="1125262848"/>
        <c:scaling>
          <c:orientation val="minMax"/>
        </c:scaling>
        <c:delete val="0"/>
        <c:axPos val="l"/>
        <c:majorGridlines>
          <c:spPr>
            <a:ln>
              <a:solidFill>
                <a:schemeClr val="tx1">
                  <a:lumMod val="15000"/>
                  <a:lumOff val="85000"/>
                </a:schemeClr>
              </a:solidFill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Revenue ($M)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52614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NVIDIA vs. Intel Quarterly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Revenue Intel</c:v>
          </c:tx>
          <c:spPr>
            <a:ln w="254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Comparison!$B$2:$B$61</c:f>
              <c:numCache>
                <c:formatCode>m/d/yyyy</c:formatCode>
                <c:ptCount val="60"/>
                <c:pt idx="0">
                  <c:v>40755</c:v>
                </c:pt>
                <c:pt idx="1">
                  <c:v>40847</c:v>
                </c:pt>
                <c:pt idx="2">
                  <c:v>40939</c:v>
                </c:pt>
                <c:pt idx="3">
                  <c:v>41029</c:v>
                </c:pt>
                <c:pt idx="4">
                  <c:v>41121</c:v>
                </c:pt>
                <c:pt idx="5">
                  <c:v>41213</c:v>
                </c:pt>
                <c:pt idx="6">
                  <c:v>41305</c:v>
                </c:pt>
                <c:pt idx="7">
                  <c:v>41394</c:v>
                </c:pt>
                <c:pt idx="8">
                  <c:v>41486</c:v>
                </c:pt>
                <c:pt idx="9">
                  <c:v>41578</c:v>
                </c:pt>
                <c:pt idx="10">
                  <c:v>41670</c:v>
                </c:pt>
                <c:pt idx="11">
                  <c:v>41759</c:v>
                </c:pt>
                <c:pt idx="12">
                  <c:v>41851</c:v>
                </c:pt>
                <c:pt idx="13">
                  <c:v>41943</c:v>
                </c:pt>
                <c:pt idx="14">
                  <c:v>42035</c:v>
                </c:pt>
                <c:pt idx="15">
                  <c:v>42124</c:v>
                </c:pt>
                <c:pt idx="16">
                  <c:v>42216</c:v>
                </c:pt>
                <c:pt idx="17">
                  <c:v>42308</c:v>
                </c:pt>
                <c:pt idx="18">
                  <c:v>42400</c:v>
                </c:pt>
                <c:pt idx="19">
                  <c:v>42490</c:v>
                </c:pt>
                <c:pt idx="20">
                  <c:v>42582</c:v>
                </c:pt>
                <c:pt idx="21">
                  <c:v>42674</c:v>
                </c:pt>
                <c:pt idx="22">
                  <c:v>42766</c:v>
                </c:pt>
                <c:pt idx="23">
                  <c:v>42855</c:v>
                </c:pt>
                <c:pt idx="24">
                  <c:v>42947</c:v>
                </c:pt>
                <c:pt idx="25">
                  <c:v>43039</c:v>
                </c:pt>
                <c:pt idx="26">
                  <c:v>43131</c:v>
                </c:pt>
                <c:pt idx="27">
                  <c:v>43220</c:v>
                </c:pt>
                <c:pt idx="28">
                  <c:v>43312</c:v>
                </c:pt>
                <c:pt idx="29">
                  <c:v>43404</c:v>
                </c:pt>
                <c:pt idx="30">
                  <c:v>43496</c:v>
                </c:pt>
                <c:pt idx="31">
                  <c:v>43585</c:v>
                </c:pt>
                <c:pt idx="32">
                  <c:v>43677</c:v>
                </c:pt>
                <c:pt idx="33">
                  <c:v>43769</c:v>
                </c:pt>
                <c:pt idx="34">
                  <c:v>43861</c:v>
                </c:pt>
                <c:pt idx="35">
                  <c:v>43951</c:v>
                </c:pt>
                <c:pt idx="36">
                  <c:v>44043</c:v>
                </c:pt>
                <c:pt idx="37">
                  <c:v>44135</c:v>
                </c:pt>
                <c:pt idx="38">
                  <c:v>44227</c:v>
                </c:pt>
                <c:pt idx="39">
                  <c:v>44316</c:v>
                </c:pt>
                <c:pt idx="40">
                  <c:v>44408</c:v>
                </c:pt>
                <c:pt idx="41">
                  <c:v>44500</c:v>
                </c:pt>
                <c:pt idx="42">
                  <c:v>44592</c:v>
                </c:pt>
                <c:pt idx="43">
                  <c:v>44681</c:v>
                </c:pt>
                <c:pt idx="44">
                  <c:v>44773</c:v>
                </c:pt>
                <c:pt idx="45">
                  <c:v>44865</c:v>
                </c:pt>
                <c:pt idx="46">
                  <c:v>44957</c:v>
                </c:pt>
                <c:pt idx="47">
                  <c:v>45046</c:v>
                </c:pt>
                <c:pt idx="48">
                  <c:v>45138</c:v>
                </c:pt>
                <c:pt idx="49">
                  <c:v>45230</c:v>
                </c:pt>
                <c:pt idx="50">
                  <c:v>45322</c:v>
                </c:pt>
                <c:pt idx="51">
                  <c:v>45412</c:v>
                </c:pt>
                <c:pt idx="52">
                  <c:v>45504</c:v>
                </c:pt>
                <c:pt idx="53">
                  <c:v>45596</c:v>
                </c:pt>
                <c:pt idx="54">
                  <c:v>45688</c:v>
                </c:pt>
                <c:pt idx="55">
                  <c:v>45777</c:v>
                </c:pt>
                <c:pt idx="56">
                  <c:v>45869</c:v>
                </c:pt>
                <c:pt idx="57">
                  <c:v>45961</c:v>
                </c:pt>
                <c:pt idx="58">
                  <c:v>46053</c:v>
                </c:pt>
                <c:pt idx="59">
                  <c:v>46142</c:v>
                </c:pt>
              </c:numCache>
            </c:numRef>
          </c:cat>
          <c:val>
            <c:numRef>
              <c:f>Comparison!$C$2:$C$61</c:f>
              <c:numCache>
                <c:formatCode>General</c:formatCode>
                <c:ptCount val="60"/>
                <c:pt idx="0">
                  <c:v>13032</c:v>
                </c:pt>
                <c:pt idx="1">
                  <c:v>14233</c:v>
                </c:pt>
                <c:pt idx="2">
                  <c:v>13887</c:v>
                </c:pt>
                <c:pt idx="3">
                  <c:v>12906</c:v>
                </c:pt>
                <c:pt idx="4">
                  <c:v>13501</c:v>
                </c:pt>
                <c:pt idx="5">
                  <c:v>13457</c:v>
                </c:pt>
                <c:pt idx="6">
                  <c:v>13477</c:v>
                </c:pt>
                <c:pt idx="7">
                  <c:v>12580</c:v>
                </c:pt>
                <c:pt idx="8">
                  <c:v>12811</c:v>
                </c:pt>
                <c:pt idx="9">
                  <c:v>13483</c:v>
                </c:pt>
                <c:pt idx="10">
                  <c:v>13834</c:v>
                </c:pt>
                <c:pt idx="11">
                  <c:v>12764</c:v>
                </c:pt>
                <c:pt idx="12">
                  <c:v>13831</c:v>
                </c:pt>
                <c:pt idx="13">
                  <c:v>14554</c:v>
                </c:pt>
                <c:pt idx="14">
                  <c:v>14721</c:v>
                </c:pt>
                <c:pt idx="15">
                  <c:v>12781</c:v>
                </c:pt>
                <c:pt idx="16">
                  <c:v>13195</c:v>
                </c:pt>
                <c:pt idx="17">
                  <c:v>14465</c:v>
                </c:pt>
                <c:pt idx="18">
                  <c:v>14914</c:v>
                </c:pt>
                <c:pt idx="19">
                  <c:v>13702</c:v>
                </c:pt>
                <c:pt idx="20">
                  <c:v>13533</c:v>
                </c:pt>
                <c:pt idx="21">
                  <c:v>15778</c:v>
                </c:pt>
                <c:pt idx="22">
                  <c:v>16374</c:v>
                </c:pt>
                <c:pt idx="23">
                  <c:v>14796</c:v>
                </c:pt>
                <c:pt idx="24">
                  <c:v>14763</c:v>
                </c:pt>
                <c:pt idx="25">
                  <c:v>16149</c:v>
                </c:pt>
                <c:pt idx="26">
                  <c:v>17053</c:v>
                </c:pt>
                <c:pt idx="27">
                  <c:v>16066</c:v>
                </c:pt>
                <c:pt idx="28">
                  <c:v>16962</c:v>
                </c:pt>
                <c:pt idx="29">
                  <c:v>19163</c:v>
                </c:pt>
                <c:pt idx="30">
                  <c:v>18657</c:v>
                </c:pt>
                <c:pt idx="31">
                  <c:v>16061</c:v>
                </c:pt>
                <c:pt idx="32">
                  <c:v>16505</c:v>
                </c:pt>
                <c:pt idx="33">
                  <c:v>19190</c:v>
                </c:pt>
                <c:pt idx="34">
                  <c:v>20209</c:v>
                </c:pt>
                <c:pt idx="35">
                  <c:v>19828</c:v>
                </c:pt>
                <c:pt idx="36">
                  <c:v>19728</c:v>
                </c:pt>
                <c:pt idx="37">
                  <c:v>18333</c:v>
                </c:pt>
                <c:pt idx="38">
                  <c:v>19978</c:v>
                </c:pt>
                <c:pt idx="39">
                  <c:v>19673</c:v>
                </c:pt>
                <c:pt idx="40">
                  <c:v>19631</c:v>
                </c:pt>
                <c:pt idx="41">
                  <c:v>19192</c:v>
                </c:pt>
                <c:pt idx="42">
                  <c:v>20528</c:v>
                </c:pt>
                <c:pt idx="43">
                  <c:v>18353</c:v>
                </c:pt>
                <c:pt idx="44">
                  <c:v>15321</c:v>
                </c:pt>
                <c:pt idx="45">
                  <c:v>15338</c:v>
                </c:pt>
                <c:pt idx="46">
                  <c:v>14042</c:v>
                </c:pt>
                <c:pt idx="47">
                  <c:v>11715</c:v>
                </c:pt>
                <c:pt idx="48">
                  <c:v>12949</c:v>
                </c:pt>
                <c:pt idx="49">
                  <c:v>14158</c:v>
                </c:pt>
                <c:pt idx="50">
                  <c:v>15406</c:v>
                </c:pt>
                <c:pt idx="51">
                  <c:v>12724</c:v>
                </c:pt>
                <c:pt idx="52">
                  <c:v>12833</c:v>
                </c:pt>
                <c:pt idx="53">
                  <c:v>13284</c:v>
                </c:pt>
                <c:pt idx="54">
                  <c:v>14260</c:v>
                </c:pt>
                <c:pt idx="55">
                  <c:v>12667</c:v>
                </c:pt>
                <c:pt idx="56">
                  <c:v>12859</c:v>
                </c:pt>
                <c:pt idx="57">
                  <c:v>13653</c:v>
                </c:pt>
                <c:pt idx="58">
                  <c:v>13674</c:v>
                </c:pt>
                <c:pt idx="59">
                  <c:v>13577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ED9-4D09-84E2-EDF8C9911FAD}"/>
            </c:ext>
          </c:extLst>
        </c:ser>
        <c:ser>
          <c:idx val="1"/>
          <c:order val="1"/>
          <c:tx>
            <c:v>Revenue NVIDIA</c:v>
          </c:tx>
          <c:spPr>
            <a:ln w="254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Comparison!$B$2:$B$61</c:f>
              <c:numCache>
                <c:formatCode>m/d/yyyy</c:formatCode>
                <c:ptCount val="60"/>
                <c:pt idx="0">
                  <c:v>40755</c:v>
                </c:pt>
                <c:pt idx="1">
                  <c:v>40847</c:v>
                </c:pt>
                <c:pt idx="2">
                  <c:v>40939</c:v>
                </c:pt>
                <c:pt idx="3">
                  <c:v>41029</c:v>
                </c:pt>
                <c:pt idx="4">
                  <c:v>41121</c:v>
                </c:pt>
                <c:pt idx="5">
                  <c:v>41213</c:v>
                </c:pt>
                <c:pt idx="6">
                  <c:v>41305</c:v>
                </c:pt>
                <c:pt idx="7">
                  <c:v>41394</c:v>
                </c:pt>
                <c:pt idx="8">
                  <c:v>41486</c:v>
                </c:pt>
                <c:pt idx="9">
                  <c:v>41578</c:v>
                </c:pt>
                <c:pt idx="10">
                  <c:v>41670</c:v>
                </c:pt>
                <c:pt idx="11">
                  <c:v>41759</c:v>
                </c:pt>
                <c:pt idx="12">
                  <c:v>41851</c:v>
                </c:pt>
                <c:pt idx="13">
                  <c:v>41943</c:v>
                </c:pt>
                <c:pt idx="14">
                  <c:v>42035</c:v>
                </c:pt>
                <c:pt idx="15">
                  <c:v>42124</c:v>
                </c:pt>
                <c:pt idx="16">
                  <c:v>42216</c:v>
                </c:pt>
                <c:pt idx="17">
                  <c:v>42308</c:v>
                </c:pt>
                <c:pt idx="18">
                  <c:v>42400</c:v>
                </c:pt>
                <c:pt idx="19">
                  <c:v>42490</c:v>
                </c:pt>
                <c:pt idx="20">
                  <c:v>42582</c:v>
                </c:pt>
                <c:pt idx="21">
                  <c:v>42674</c:v>
                </c:pt>
                <c:pt idx="22">
                  <c:v>42766</c:v>
                </c:pt>
                <c:pt idx="23">
                  <c:v>42855</c:v>
                </c:pt>
                <c:pt idx="24">
                  <c:v>42947</c:v>
                </c:pt>
                <c:pt idx="25">
                  <c:v>43039</c:v>
                </c:pt>
                <c:pt idx="26">
                  <c:v>43131</c:v>
                </c:pt>
                <c:pt idx="27">
                  <c:v>43220</c:v>
                </c:pt>
                <c:pt idx="28">
                  <c:v>43312</c:v>
                </c:pt>
                <c:pt idx="29">
                  <c:v>43404</c:v>
                </c:pt>
                <c:pt idx="30">
                  <c:v>43496</c:v>
                </c:pt>
                <c:pt idx="31">
                  <c:v>43585</c:v>
                </c:pt>
                <c:pt idx="32">
                  <c:v>43677</c:v>
                </c:pt>
                <c:pt idx="33">
                  <c:v>43769</c:v>
                </c:pt>
                <c:pt idx="34">
                  <c:v>43861</c:v>
                </c:pt>
                <c:pt idx="35">
                  <c:v>43951</c:v>
                </c:pt>
                <c:pt idx="36">
                  <c:v>44043</c:v>
                </c:pt>
                <c:pt idx="37">
                  <c:v>44135</c:v>
                </c:pt>
                <c:pt idx="38">
                  <c:v>44227</c:v>
                </c:pt>
                <c:pt idx="39">
                  <c:v>44316</c:v>
                </c:pt>
                <c:pt idx="40">
                  <c:v>44408</c:v>
                </c:pt>
                <c:pt idx="41">
                  <c:v>44500</c:v>
                </c:pt>
                <c:pt idx="42">
                  <c:v>44592</c:v>
                </c:pt>
                <c:pt idx="43">
                  <c:v>44681</c:v>
                </c:pt>
                <c:pt idx="44">
                  <c:v>44773</c:v>
                </c:pt>
                <c:pt idx="45">
                  <c:v>44865</c:v>
                </c:pt>
                <c:pt idx="46">
                  <c:v>44957</c:v>
                </c:pt>
                <c:pt idx="47">
                  <c:v>45046</c:v>
                </c:pt>
                <c:pt idx="48">
                  <c:v>45138</c:v>
                </c:pt>
                <c:pt idx="49">
                  <c:v>45230</c:v>
                </c:pt>
                <c:pt idx="50">
                  <c:v>45322</c:v>
                </c:pt>
                <c:pt idx="51">
                  <c:v>45412</c:v>
                </c:pt>
                <c:pt idx="52">
                  <c:v>45504</c:v>
                </c:pt>
                <c:pt idx="53">
                  <c:v>45596</c:v>
                </c:pt>
                <c:pt idx="54">
                  <c:v>45688</c:v>
                </c:pt>
                <c:pt idx="55">
                  <c:v>45777</c:v>
                </c:pt>
                <c:pt idx="56">
                  <c:v>45869</c:v>
                </c:pt>
                <c:pt idx="57">
                  <c:v>45961</c:v>
                </c:pt>
                <c:pt idx="58">
                  <c:v>46053</c:v>
                </c:pt>
                <c:pt idx="59">
                  <c:v>46142</c:v>
                </c:pt>
              </c:numCache>
            </c:numRef>
          </c:cat>
          <c:val>
            <c:numRef>
              <c:f>Comparison!$D$2:$D$61</c:f>
              <c:numCache>
                <c:formatCode>General</c:formatCode>
                <c:ptCount val="60"/>
                <c:pt idx="0">
                  <c:v>1017</c:v>
                </c:pt>
                <c:pt idx="1">
                  <c:v>1066</c:v>
                </c:pt>
                <c:pt idx="2">
                  <c:v>953</c:v>
                </c:pt>
                <c:pt idx="3">
                  <c:v>925</c:v>
                </c:pt>
                <c:pt idx="4">
                  <c:v>1044</c:v>
                </c:pt>
                <c:pt idx="5">
                  <c:v>1204</c:v>
                </c:pt>
                <c:pt idx="6">
                  <c:v>1107</c:v>
                </c:pt>
                <c:pt idx="7">
                  <c:v>955</c:v>
                </c:pt>
                <c:pt idx="8">
                  <c:v>977</c:v>
                </c:pt>
                <c:pt idx="9">
                  <c:v>1054</c:v>
                </c:pt>
                <c:pt idx="10">
                  <c:v>1144</c:v>
                </c:pt>
                <c:pt idx="11">
                  <c:v>1103</c:v>
                </c:pt>
                <c:pt idx="12">
                  <c:v>1103</c:v>
                </c:pt>
                <c:pt idx="13">
                  <c:v>1225</c:v>
                </c:pt>
                <c:pt idx="14">
                  <c:v>1251</c:v>
                </c:pt>
                <c:pt idx="15">
                  <c:v>1151</c:v>
                </c:pt>
                <c:pt idx="16">
                  <c:v>1153</c:v>
                </c:pt>
                <c:pt idx="17">
                  <c:v>1305</c:v>
                </c:pt>
                <c:pt idx="18">
                  <c:v>1401</c:v>
                </c:pt>
                <c:pt idx="19">
                  <c:v>1305</c:v>
                </c:pt>
                <c:pt idx="20">
                  <c:v>1428</c:v>
                </c:pt>
                <c:pt idx="21">
                  <c:v>2004</c:v>
                </c:pt>
                <c:pt idx="22">
                  <c:v>2173</c:v>
                </c:pt>
                <c:pt idx="23">
                  <c:v>1937</c:v>
                </c:pt>
                <c:pt idx="24">
                  <c:v>2230</c:v>
                </c:pt>
                <c:pt idx="25">
                  <c:v>2636</c:v>
                </c:pt>
                <c:pt idx="26">
                  <c:v>2911</c:v>
                </c:pt>
                <c:pt idx="27">
                  <c:v>3207</c:v>
                </c:pt>
                <c:pt idx="28">
                  <c:v>3123</c:v>
                </c:pt>
                <c:pt idx="29">
                  <c:v>3181</c:v>
                </c:pt>
                <c:pt idx="30">
                  <c:v>2205</c:v>
                </c:pt>
                <c:pt idx="31">
                  <c:v>2220</c:v>
                </c:pt>
                <c:pt idx="32">
                  <c:v>2579</c:v>
                </c:pt>
                <c:pt idx="33">
                  <c:v>3014</c:v>
                </c:pt>
                <c:pt idx="34">
                  <c:v>3105</c:v>
                </c:pt>
                <c:pt idx="35">
                  <c:v>3080</c:v>
                </c:pt>
                <c:pt idx="36">
                  <c:v>3866</c:v>
                </c:pt>
                <c:pt idx="37">
                  <c:v>4726</c:v>
                </c:pt>
                <c:pt idx="38">
                  <c:v>5003</c:v>
                </c:pt>
                <c:pt idx="39">
                  <c:v>5661</c:v>
                </c:pt>
                <c:pt idx="40">
                  <c:v>6507</c:v>
                </c:pt>
                <c:pt idx="41">
                  <c:v>7103</c:v>
                </c:pt>
                <c:pt idx="42">
                  <c:v>7643</c:v>
                </c:pt>
                <c:pt idx="43">
                  <c:v>8288</c:v>
                </c:pt>
                <c:pt idx="44">
                  <c:v>6704</c:v>
                </c:pt>
                <c:pt idx="45">
                  <c:v>5931</c:v>
                </c:pt>
                <c:pt idx="46">
                  <c:v>6051</c:v>
                </c:pt>
                <c:pt idx="47">
                  <c:v>7192</c:v>
                </c:pt>
                <c:pt idx="48">
                  <c:v>13507</c:v>
                </c:pt>
                <c:pt idx="49">
                  <c:v>18120</c:v>
                </c:pt>
                <c:pt idx="50">
                  <c:v>22103</c:v>
                </c:pt>
                <c:pt idx="51">
                  <c:v>26044</c:v>
                </c:pt>
                <c:pt idx="52">
                  <c:v>30040</c:v>
                </c:pt>
                <c:pt idx="53">
                  <c:v>35082</c:v>
                </c:pt>
                <c:pt idx="54">
                  <c:v>39331</c:v>
                </c:pt>
                <c:pt idx="55">
                  <c:v>44062</c:v>
                </c:pt>
                <c:pt idx="56">
                  <c:v>46743</c:v>
                </c:pt>
                <c:pt idx="57">
                  <c:v>57006</c:v>
                </c:pt>
                <c:pt idx="58">
                  <c:v>68127</c:v>
                </c:pt>
                <c:pt idx="59">
                  <c:v>81615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ED9-4D09-84E2-EDF8C9911F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30895408"/>
        <c:axId val="1230895888"/>
      </c:lineChart>
      <c:scatterChart>
        <c:scatterStyle val="lineMarker"/>
        <c:varyColors val="0"/>
        <c:ser>
          <c:idx val="2"/>
          <c:order val="2"/>
          <c:tx>
            <c:v>The AI Boom</c:v>
          </c:tx>
          <c:spPr>
            <a:ln w="25400" cap="rnd">
              <a:solidFill>
                <a:srgbClr val="FF0000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Comparison!$E$2:$E$3</c:f>
              <c:numCache>
                <c:formatCode>m/d/yyyy</c:formatCode>
                <c:ptCount val="2"/>
                <c:pt idx="0">
                  <c:v>45046</c:v>
                </c:pt>
                <c:pt idx="1">
                  <c:v>45046</c:v>
                </c:pt>
              </c:numCache>
            </c:numRef>
          </c:xVal>
          <c:yVal>
            <c:numRef>
              <c:f>Comparison!$F$2:$F$3</c:f>
              <c:numCache>
                <c:formatCode>General</c:formatCode>
                <c:ptCount val="2"/>
                <c:pt idx="0">
                  <c:v>0</c:v>
                </c:pt>
                <c:pt idx="1">
                  <c:v>90000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6ED9-4D09-84E2-EDF8C9911F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30895408"/>
        <c:axId val="1230895888"/>
      </c:scatterChart>
      <c:dateAx>
        <c:axId val="123089540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Date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mmm\ yyyy" sourceLinked="0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0895888"/>
        <c:crosses val="autoZero"/>
        <c:auto val="1"/>
        <c:lblOffset val="100"/>
        <c:baseTimeUnit val="months"/>
        <c:majorUnit val="8"/>
        <c:majorTimeUnit val="months"/>
      </c:dateAx>
      <c:valAx>
        <c:axId val="1230895888"/>
        <c:scaling>
          <c:orientation val="minMax"/>
        </c:scaling>
        <c:delete val="0"/>
        <c:axPos val="l"/>
        <c:majorGridlines>
          <c:spPr>
            <a:ln>
              <a:solidFill>
                <a:schemeClr val="tx1">
                  <a:lumMod val="15000"/>
                  <a:lumOff val="85000"/>
                </a:schemeClr>
              </a:solidFill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Revenue ($M)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08954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15875" cap="flat" cmpd="sng" algn="ctr">
        <a:solidFill>
          <a:schemeClr val="tx1">
            <a:lumMod val="65000"/>
            <a:lumOff val="3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2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15875" cap="flat" cmpd="sng" algn="ctr">
        <a:solidFill>
          <a:schemeClr val="tx1">
            <a:lumMod val="65000"/>
            <a:lumOff val="3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2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15875" cap="flat" cmpd="sng" algn="ctr">
        <a:solidFill>
          <a:schemeClr val="tx1">
            <a:lumMod val="65000"/>
            <a:lumOff val="3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142A12-1454-4932-BA47-13978D247F83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84C9EAD-8664-4C5D-B3F6-EBF1FCFC1C73}">
      <dgm:prSet/>
      <dgm:spPr/>
      <dgm:t>
        <a:bodyPr/>
        <a:lstStyle/>
        <a:p>
          <a:r>
            <a:rPr lang="en-GB" dirty="0">
              <a:latin typeface="Trebuchet MS" panose="020B0603020202020204" pitchFamily="34" charset="0"/>
            </a:rPr>
            <a:t>Hobbies: Gym, Fishing, Hiking, Programming.</a:t>
          </a:r>
          <a:endParaRPr lang="en-US" dirty="0">
            <a:latin typeface="Trebuchet MS" panose="020B0603020202020204" pitchFamily="34" charset="0"/>
          </a:endParaRPr>
        </a:p>
      </dgm:t>
    </dgm:pt>
    <dgm:pt modelId="{163DC77C-5783-4CDD-8C59-E018E2CEA7CA}" type="parTrans" cxnId="{E255DA20-2C17-4BF2-8B6E-87F0B3F78735}">
      <dgm:prSet/>
      <dgm:spPr/>
      <dgm:t>
        <a:bodyPr/>
        <a:lstStyle/>
        <a:p>
          <a:endParaRPr lang="en-US"/>
        </a:p>
      </dgm:t>
    </dgm:pt>
    <dgm:pt modelId="{C0254357-022F-4869-9433-5E11AC87A8B2}" type="sibTrans" cxnId="{E255DA20-2C17-4BF2-8B6E-87F0B3F78735}">
      <dgm:prSet/>
      <dgm:spPr/>
      <dgm:t>
        <a:bodyPr/>
        <a:lstStyle/>
        <a:p>
          <a:endParaRPr lang="en-US"/>
        </a:p>
      </dgm:t>
    </dgm:pt>
    <dgm:pt modelId="{01967649-8E2B-4317-94DC-CE5C569A72D4}">
      <dgm:prSet/>
      <dgm:spPr/>
      <dgm:t>
        <a:bodyPr/>
        <a:lstStyle/>
        <a:p>
          <a:r>
            <a:rPr lang="en-GB">
              <a:latin typeface="Trebuchet MS" panose="020B0603020202020204" pitchFamily="34" charset="0"/>
            </a:rPr>
            <a:t>Passions: Philosophy, Music, History, Healthy Lifestyle.</a:t>
          </a:r>
        </a:p>
      </dgm:t>
    </dgm:pt>
    <dgm:pt modelId="{2EDC5D33-C7AE-49CC-BB80-43489CE66611}" type="parTrans" cxnId="{C2C8E3B6-9095-4D7E-826A-FA9E11E64F48}">
      <dgm:prSet/>
      <dgm:spPr/>
      <dgm:t>
        <a:bodyPr/>
        <a:lstStyle/>
        <a:p>
          <a:endParaRPr lang="en-GB"/>
        </a:p>
      </dgm:t>
    </dgm:pt>
    <dgm:pt modelId="{AA10B4BA-CA4B-4746-8358-8B24F40BC7A5}" type="sibTrans" cxnId="{C2C8E3B6-9095-4D7E-826A-FA9E11E64F48}">
      <dgm:prSet/>
      <dgm:spPr/>
      <dgm:t>
        <a:bodyPr/>
        <a:lstStyle/>
        <a:p>
          <a:endParaRPr lang="en-GB"/>
        </a:p>
      </dgm:t>
    </dgm:pt>
    <dgm:pt modelId="{AB30EAF6-70FC-435B-B63F-B2EE9C3EEB81}">
      <dgm:prSet/>
      <dgm:spPr/>
      <dgm:t>
        <a:bodyPr/>
        <a:lstStyle/>
        <a:p>
          <a:r>
            <a:rPr lang="en-GB">
              <a:latin typeface="Trebuchet MS" panose="020B0603020202020204" pitchFamily="34" charset="0"/>
            </a:rPr>
            <a:t>Values: Hard work, Morality, Determination, Friendship</a:t>
          </a:r>
        </a:p>
      </dgm:t>
    </dgm:pt>
    <dgm:pt modelId="{E7DA152A-5137-4E1E-BC66-B2F021767C9E}" type="parTrans" cxnId="{118A6A89-5048-42D7-9602-1AE3EA4D434F}">
      <dgm:prSet/>
      <dgm:spPr/>
      <dgm:t>
        <a:bodyPr/>
        <a:lstStyle/>
        <a:p>
          <a:endParaRPr lang="en-GB"/>
        </a:p>
      </dgm:t>
    </dgm:pt>
    <dgm:pt modelId="{96826752-A340-45BE-B165-A0C1345C2833}" type="sibTrans" cxnId="{118A6A89-5048-42D7-9602-1AE3EA4D434F}">
      <dgm:prSet/>
      <dgm:spPr/>
      <dgm:t>
        <a:bodyPr/>
        <a:lstStyle/>
        <a:p>
          <a:endParaRPr lang="en-GB"/>
        </a:p>
      </dgm:t>
    </dgm:pt>
    <dgm:pt modelId="{2840335E-44D1-4C95-A3A8-69F811E341A7}" type="pres">
      <dgm:prSet presAssocID="{E9142A12-1454-4932-BA47-13978D247F83}" presName="linear" presStyleCnt="0">
        <dgm:presLayoutVars>
          <dgm:animLvl val="lvl"/>
          <dgm:resizeHandles val="exact"/>
        </dgm:presLayoutVars>
      </dgm:prSet>
      <dgm:spPr/>
    </dgm:pt>
    <dgm:pt modelId="{C54F66CB-3946-440D-8F56-EB5B5DCCF937}" type="pres">
      <dgm:prSet presAssocID="{584C9EAD-8664-4C5D-B3F6-EBF1FCFC1C7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83523C1-E12E-4CB5-9121-CC818BDAEB10}" type="pres">
      <dgm:prSet presAssocID="{C0254357-022F-4869-9433-5E11AC87A8B2}" presName="spacer" presStyleCnt="0"/>
      <dgm:spPr/>
    </dgm:pt>
    <dgm:pt modelId="{B84E440E-CEEF-4D3A-B209-367CE40EE9C7}" type="pres">
      <dgm:prSet presAssocID="{01967649-8E2B-4317-94DC-CE5C569A72D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BD78A8C-5D0A-4428-8BDE-D742AD3C8B84}" type="pres">
      <dgm:prSet presAssocID="{AA10B4BA-CA4B-4746-8358-8B24F40BC7A5}" presName="spacer" presStyleCnt="0"/>
      <dgm:spPr/>
    </dgm:pt>
    <dgm:pt modelId="{8C040115-7408-4248-8A03-A78B44D8B1D6}" type="pres">
      <dgm:prSet presAssocID="{AB30EAF6-70FC-435B-B63F-B2EE9C3EEB8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83FC710-63A5-46D8-BDB6-957C612E6B5F}" type="presOf" srcId="{01967649-8E2B-4317-94DC-CE5C569A72D4}" destId="{B84E440E-CEEF-4D3A-B209-367CE40EE9C7}" srcOrd="0" destOrd="0" presId="urn:microsoft.com/office/officeart/2005/8/layout/vList2"/>
    <dgm:cxn modelId="{E255DA20-2C17-4BF2-8B6E-87F0B3F78735}" srcId="{E9142A12-1454-4932-BA47-13978D247F83}" destId="{584C9EAD-8664-4C5D-B3F6-EBF1FCFC1C73}" srcOrd="0" destOrd="0" parTransId="{163DC77C-5783-4CDD-8C59-E018E2CEA7CA}" sibTransId="{C0254357-022F-4869-9433-5E11AC87A8B2}"/>
    <dgm:cxn modelId="{7D78116C-709B-4AB7-9EF6-11FC8BB27F2A}" type="presOf" srcId="{AB30EAF6-70FC-435B-B63F-B2EE9C3EEB81}" destId="{8C040115-7408-4248-8A03-A78B44D8B1D6}" srcOrd="0" destOrd="0" presId="urn:microsoft.com/office/officeart/2005/8/layout/vList2"/>
    <dgm:cxn modelId="{6A849A56-51A5-4B78-9B0D-76F7B15C421B}" type="presOf" srcId="{E9142A12-1454-4932-BA47-13978D247F83}" destId="{2840335E-44D1-4C95-A3A8-69F811E341A7}" srcOrd="0" destOrd="0" presId="urn:microsoft.com/office/officeart/2005/8/layout/vList2"/>
    <dgm:cxn modelId="{118A6A89-5048-42D7-9602-1AE3EA4D434F}" srcId="{E9142A12-1454-4932-BA47-13978D247F83}" destId="{AB30EAF6-70FC-435B-B63F-B2EE9C3EEB81}" srcOrd="2" destOrd="0" parTransId="{E7DA152A-5137-4E1E-BC66-B2F021767C9E}" sibTransId="{96826752-A340-45BE-B165-A0C1345C2833}"/>
    <dgm:cxn modelId="{717C68AA-F3F5-4616-8167-71679FB501D4}" type="presOf" srcId="{584C9EAD-8664-4C5D-B3F6-EBF1FCFC1C73}" destId="{C54F66CB-3946-440D-8F56-EB5B5DCCF937}" srcOrd="0" destOrd="0" presId="urn:microsoft.com/office/officeart/2005/8/layout/vList2"/>
    <dgm:cxn modelId="{C2C8E3B6-9095-4D7E-826A-FA9E11E64F48}" srcId="{E9142A12-1454-4932-BA47-13978D247F83}" destId="{01967649-8E2B-4317-94DC-CE5C569A72D4}" srcOrd="1" destOrd="0" parTransId="{2EDC5D33-C7AE-49CC-BB80-43489CE66611}" sibTransId="{AA10B4BA-CA4B-4746-8358-8B24F40BC7A5}"/>
    <dgm:cxn modelId="{A8CB17EB-0725-46A2-BEB0-30BBA06B91D1}" type="presParOf" srcId="{2840335E-44D1-4C95-A3A8-69F811E341A7}" destId="{C54F66CB-3946-440D-8F56-EB5B5DCCF937}" srcOrd="0" destOrd="0" presId="urn:microsoft.com/office/officeart/2005/8/layout/vList2"/>
    <dgm:cxn modelId="{60E7EF80-AB8E-4589-839C-A0D247524BEE}" type="presParOf" srcId="{2840335E-44D1-4C95-A3A8-69F811E341A7}" destId="{083523C1-E12E-4CB5-9121-CC818BDAEB10}" srcOrd="1" destOrd="0" presId="urn:microsoft.com/office/officeart/2005/8/layout/vList2"/>
    <dgm:cxn modelId="{A8F72FD5-8B22-4214-8A98-41F6065929BA}" type="presParOf" srcId="{2840335E-44D1-4C95-A3A8-69F811E341A7}" destId="{B84E440E-CEEF-4D3A-B209-367CE40EE9C7}" srcOrd="2" destOrd="0" presId="urn:microsoft.com/office/officeart/2005/8/layout/vList2"/>
    <dgm:cxn modelId="{EF05A67C-D9CF-4A2F-A1D9-9E4357E3886A}" type="presParOf" srcId="{2840335E-44D1-4C95-A3A8-69F811E341A7}" destId="{4BD78A8C-5D0A-4428-8BDE-D742AD3C8B84}" srcOrd="3" destOrd="0" presId="urn:microsoft.com/office/officeart/2005/8/layout/vList2"/>
    <dgm:cxn modelId="{79954F1D-1D00-4F2E-A991-FA77060DC306}" type="presParOf" srcId="{2840335E-44D1-4C95-A3A8-69F811E341A7}" destId="{8C040115-7408-4248-8A03-A78B44D8B1D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4CC2DEE-0E8B-4761-9020-EAF6438B7AC2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88C6A52-7E9D-4FA7-8B77-DE2DA39CEB84}">
      <dgm:prSet/>
      <dgm:spPr/>
      <dgm:t>
        <a:bodyPr/>
        <a:lstStyle/>
        <a:p>
          <a:r>
            <a:rPr lang="en-GB" dirty="0">
              <a:latin typeface="Trebuchet MS" panose="020B0603020202020204" pitchFamily="34" charset="0"/>
            </a:rPr>
            <a:t>Data-driven consultancy fits my career goals</a:t>
          </a:r>
          <a:endParaRPr lang="en-US" dirty="0">
            <a:latin typeface="Trebuchet MS" panose="020B0603020202020204" pitchFamily="34" charset="0"/>
          </a:endParaRPr>
        </a:p>
      </dgm:t>
    </dgm:pt>
    <dgm:pt modelId="{FEF2198A-EE07-45AB-B168-49BE0ED1A414}" type="parTrans" cxnId="{7CE203DC-46EE-4151-B15D-7894908A49A1}">
      <dgm:prSet/>
      <dgm:spPr/>
      <dgm:t>
        <a:bodyPr/>
        <a:lstStyle/>
        <a:p>
          <a:endParaRPr lang="en-US"/>
        </a:p>
      </dgm:t>
    </dgm:pt>
    <dgm:pt modelId="{5AB11137-0B82-41DC-9D14-016F44A92ED1}" type="sibTrans" cxnId="{7CE203DC-46EE-4151-B15D-7894908A49A1}">
      <dgm:prSet/>
      <dgm:spPr/>
      <dgm:t>
        <a:bodyPr/>
        <a:lstStyle/>
        <a:p>
          <a:endParaRPr lang="en-US"/>
        </a:p>
      </dgm:t>
    </dgm:pt>
    <dgm:pt modelId="{B949E80F-CF3D-4152-B268-77ED43872518}">
      <dgm:prSet/>
      <dgm:spPr/>
      <dgm:t>
        <a:bodyPr/>
        <a:lstStyle/>
        <a:p>
          <a:r>
            <a:rPr lang="en-US" dirty="0">
              <a:latin typeface="Trebuchet MS" panose="020B0603020202020204" pitchFamily="34" charset="0"/>
            </a:rPr>
            <a:t>Apply data skills in real client environments</a:t>
          </a:r>
        </a:p>
      </dgm:t>
    </dgm:pt>
    <dgm:pt modelId="{260F656B-2389-4311-B4C8-53CCB01FDC62}" type="parTrans" cxnId="{51452312-5991-4B36-898A-B65E7468D051}">
      <dgm:prSet/>
      <dgm:spPr/>
      <dgm:t>
        <a:bodyPr/>
        <a:lstStyle/>
        <a:p>
          <a:endParaRPr lang="en-US"/>
        </a:p>
      </dgm:t>
    </dgm:pt>
    <dgm:pt modelId="{42A65B4F-6E11-4455-A1A1-6B0F65C58F5D}" type="sibTrans" cxnId="{51452312-5991-4B36-898A-B65E7468D051}">
      <dgm:prSet/>
      <dgm:spPr/>
      <dgm:t>
        <a:bodyPr/>
        <a:lstStyle/>
        <a:p>
          <a:endParaRPr lang="en-US"/>
        </a:p>
      </dgm:t>
    </dgm:pt>
    <dgm:pt modelId="{CABFE612-45A1-4D26-9390-48BB72736145}">
      <dgm:prSet/>
      <dgm:spPr/>
      <dgm:t>
        <a:bodyPr/>
        <a:lstStyle/>
        <a:p>
          <a:r>
            <a:rPr lang="en-GB" dirty="0">
              <a:latin typeface="Trebuchet MS" panose="020B0603020202020204" pitchFamily="34" charset="0"/>
            </a:rPr>
            <a:t>Consultancy suits my strengths</a:t>
          </a:r>
          <a:endParaRPr lang="en-US" dirty="0">
            <a:latin typeface="Trebuchet MS" panose="020B0603020202020204" pitchFamily="34" charset="0"/>
          </a:endParaRPr>
        </a:p>
      </dgm:t>
    </dgm:pt>
    <dgm:pt modelId="{CCB89F2C-E759-4744-86F9-990A411CAEE7}" type="parTrans" cxnId="{101E73D2-CF08-41F2-93B3-253CFC11967B}">
      <dgm:prSet/>
      <dgm:spPr/>
      <dgm:t>
        <a:bodyPr/>
        <a:lstStyle/>
        <a:p>
          <a:endParaRPr lang="en-US"/>
        </a:p>
      </dgm:t>
    </dgm:pt>
    <dgm:pt modelId="{4A744B55-CB70-4C1A-95C3-83C045D9F866}" type="sibTrans" cxnId="{101E73D2-CF08-41F2-93B3-253CFC11967B}">
      <dgm:prSet/>
      <dgm:spPr/>
      <dgm:t>
        <a:bodyPr/>
        <a:lstStyle/>
        <a:p>
          <a:endParaRPr lang="en-US"/>
        </a:p>
      </dgm:t>
    </dgm:pt>
    <dgm:pt modelId="{F9134868-E78D-48B1-AB4F-8C83C993332F}">
      <dgm:prSet/>
      <dgm:spPr/>
      <dgm:t>
        <a:bodyPr/>
        <a:lstStyle/>
        <a:p>
          <a:r>
            <a:rPr lang="en-US" dirty="0">
              <a:latin typeface="Trebuchet MS" panose="020B0603020202020204" pitchFamily="34" charset="0"/>
            </a:rPr>
            <a:t>Values that align with how I work</a:t>
          </a:r>
        </a:p>
      </dgm:t>
    </dgm:pt>
    <dgm:pt modelId="{F398E0B8-B401-460E-86F2-C5535B508F89}" type="parTrans" cxnId="{28DA9ED1-6FA3-4B99-B044-BE78B1A5A4C9}">
      <dgm:prSet/>
      <dgm:spPr/>
      <dgm:t>
        <a:bodyPr/>
        <a:lstStyle/>
        <a:p>
          <a:endParaRPr lang="en-US"/>
        </a:p>
      </dgm:t>
    </dgm:pt>
    <dgm:pt modelId="{24C1DC09-78A2-4363-979D-2ADA95B095F7}" type="sibTrans" cxnId="{28DA9ED1-6FA3-4B99-B044-BE78B1A5A4C9}">
      <dgm:prSet/>
      <dgm:spPr/>
      <dgm:t>
        <a:bodyPr/>
        <a:lstStyle/>
        <a:p>
          <a:endParaRPr lang="en-US"/>
        </a:p>
      </dgm:t>
    </dgm:pt>
    <dgm:pt modelId="{39E3DCB9-AF82-40C8-86A3-47838CC7FA0F}" type="pres">
      <dgm:prSet presAssocID="{54CC2DEE-0E8B-4761-9020-EAF6438B7AC2}" presName="diagram" presStyleCnt="0">
        <dgm:presLayoutVars>
          <dgm:dir/>
          <dgm:resizeHandles val="exact"/>
        </dgm:presLayoutVars>
      </dgm:prSet>
      <dgm:spPr/>
    </dgm:pt>
    <dgm:pt modelId="{48CC1D39-1124-4785-BD6D-DD39E143A1D4}" type="pres">
      <dgm:prSet presAssocID="{B88C6A52-7E9D-4FA7-8B77-DE2DA39CEB84}" presName="node" presStyleLbl="node1" presStyleIdx="0" presStyleCnt="4">
        <dgm:presLayoutVars>
          <dgm:bulletEnabled val="1"/>
        </dgm:presLayoutVars>
      </dgm:prSet>
      <dgm:spPr/>
    </dgm:pt>
    <dgm:pt modelId="{92E9D5C3-31CC-4BBA-BF0A-D4C6BE7BF3A2}" type="pres">
      <dgm:prSet presAssocID="{5AB11137-0B82-41DC-9D14-016F44A92ED1}" presName="sibTrans" presStyleCnt="0"/>
      <dgm:spPr/>
    </dgm:pt>
    <dgm:pt modelId="{588DB37E-3E99-43CE-A250-587442C1BDEE}" type="pres">
      <dgm:prSet presAssocID="{B949E80F-CF3D-4152-B268-77ED43872518}" presName="node" presStyleLbl="node1" presStyleIdx="1" presStyleCnt="4">
        <dgm:presLayoutVars>
          <dgm:bulletEnabled val="1"/>
        </dgm:presLayoutVars>
      </dgm:prSet>
      <dgm:spPr/>
    </dgm:pt>
    <dgm:pt modelId="{786D474B-3540-40C5-9CAD-1EF806C8B62D}" type="pres">
      <dgm:prSet presAssocID="{42A65B4F-6E11-4455-A1A1-6B0F65C58F5D}" presName="sibTrans" presStyleCnt="0"/>
      <dgm:spPr/>
    </dgm:pt>
    <dgm:pt modelId="{8051759E-6FEB-4212-9D13-37E7A8DB12F2}" type="pres">
      <dgm:prSet presAssocID="{CABFE612-45A1-4D26-9390-48BB72736145}" presName="node" presStyleLbl="node1" presStyleIdx="2" presStyleCnt="4">
        <dgm:presLayoutVars>
          <dgm:bulletEnabled val="1"/>
        </dgm:presLayoutVars>
      </dgm:prSet>
      <dgm:spPr/>
    </dgm:pt>
    <dgm:pt modelId="{628FB1E1-9AC3-42A2-BDAF-F0449E2AB166}" type="pres">
      <dgm:prSet presAssocID="{4A744B55-CB70-4C1A-95C3-83C045D9F866}" presName="sibTrans" presStyleCnt="0"/>
      <dgm:spPr/>
    </dgm:pt>
    <dgm:pt modelId="{9EB08AA5-6BEA-4A72-8243-49284B738BAE}" type="pres">
      <dgm:prSet presAssocID="{F9134868-E78D-48B1-AB4F-8C83C993332F}" presName="node" presStyleLbl="node1" presStyleIdx="3" presStyleCnt="4">
        <dgm:presLayoutVars>
          <dgm:bulletEnabled val="1"/>
        </dgm:presLayoutVars>
      </dgm:prSet>
      <dgm:spPr/>
    </dgm:pt>
  </dgm:ptLst>
  <dgm:cxnLst>
    <dgm:cxn modelId="{51452312-5991-4B36-898A-B65E7468D051}" srcId="{54CC2DEE-0E8B-4761-9020-EAF6438B7AC2}" destId="{B949E80F-CF3D-4152-B268-77ED43872518}" srcOrd="1" destOrd="0" parTransId="{260F656B-2389-4311-B4C8-53CCB01FDC62}" sibTransId="{42A65B4F-6E11-4455-A1A1-6B0F65C58F5D}"/>
    <dgm:cxn modelId="{636A6F27-A449-4A96-AEDC-8863CB6002A0}" type="presOf" srcId="{54CC2DEE-0E8B-4761-9020-EAF6438B7AC2}" destId="{39E3DCB9-AF82-40C8-86A3-47838CC7FA0F}" srcOrd="0" destOrd="0" presId="urn:microsoft.com/office/officeart/2005/8/layout/default"/>
    <dgm:cxn modelId="{611DFE2B-E603-4107-9A24-BF5B39084E49}" type="presOf" srcId="{B88C6A52-7E9D-4FA7-8B77-DE2DA39CEB84}" destId="{48CC1D39-1124-4785-BD6D-DD39E143A1D4}" srcOrd="0" destOrd="0" presId="urn:microsoft.com/office/officeart/2005/8/layout/default"/>
    <dgm:cxn modelId="{8EFF203B-3E32-44B0-9F67-A510D145FBDE}" type="presOf" srcId="{F9134868-E78D-48B1-AB4F-8C83C993332F}" destId="{9EB08AA5-6BEA-4A72-8243-49284B738BAE}" srcOrd="0" destOrd="0" presId="urn:microsoft.com/office/officeart/2005/8/layout/default"/>
    <dgm:cxn modelId="{87F4F341-AFB8-4C5A-9682-760233718946}" type="presOf" srcId="{CABFE612-45A1-4D26-9390-48BB72736145}" destId="{8051759E-6FEB-4212-9D13-37E7A8DB12F2}" srcOrd="0" destOrd="0" presId="urn:microsoft.com/office/officeart/2005/8/layout/default"/>
    <dgm:cxn modelId="{8D28B8CB-EDE0-42D7-9B22-6677C53992E4}" type="presOf" srcId="{B949E80F-CF3D-4152-B268-77ED43872518}" destId="{588DB37E-3E99-43CE-A250-587442C1BDEE}" srcOrd="0" destOrd="0" presId="urn:microsoft.com/office/officeart/2005/8/layout/default"/>
    <dgm:cxn modelId="{28DA9ED1-6FA3-4B99-B044-BE78B1A5A4C9}" srcId="{54CC2DEE-0E8B-4761-9020-EAF6438B7AC2}" destId="{F9134868-E78D-48B1-AB4F-8C83C993332F}" srcOrd="3" destOrd="0" parTransId="{F398E0B8-B401-460E-86F2-C5535B508F89}" sibTransId="{24C1DC09-78A2-4363-979D-2ADA95B095F7}"/>
    <dgm:cxn modelId="{101E73D2-CF08-41F2-93B3-253CFC11967B}" srcId="{54CC2DEE-0E8B-4761-9020-EAF6438B7AC2}" destId="{CABFE612-45A1-4D26-9390-48BB72736145}" srcOrd="2" destOrd="0" parTransId="{CCB89F2C-E759-4744-86F9-990A411CAEE7}" sibTransId="{4A744B55-CB70-4C1A-95C3-83C045D9F866}"/>
    <dgm:cxn modelId="{7CE203DC-46EE-4151-B15D-7894908A49A1}" srcId="{54CC2DEE-0E8B-4761-9020-EAF6438B7AC2}" destId="{B88C6A52-7E9D-4FA7-8B77-DE2DA39CEB84}" srcOrd="0" destOrd="0" parTransId="{FEF2198A-EE07-45AB-B168-49BE0ED1A414}" sibTransId="{5AB11137-0B82-41DC-9D14-016F44A92ED1}"/>
    <dgm:cxn modelId="{EE7B0158-4CA8-44FB-9110-58E696FBFE13}" type="presParOf" srcId="{39E3DCB9-AF82-40C8-86A3-47838CC7FA0F}" destId="{48CC1D39-1124-4785-BD6D-DD39E143A1D4}" srcOrd="0" destOrd="0" presId="urn:microsoft.com/office/officeart/2005/8/layout/default"/>
    <dgm:cxn modelId="{66890AB0-CD20-4D4D-8910-218CF736F20A}" type="presParOf" srcId="{39E3DCB9-AF82-40C8-86A3-47838CC7FA0F}" destId="{92E9D5C3-31CC-4BBA-BF0A-D4C6BE7BF3A2}" srcOrd="1" destOrd="0" presId="urn:microsoft.com/office/officeart/2005/8/layout/default"/>
    <dgm:cxn modelId="{4D294F0B-764E-4295-B5E8-5D33C9ACA1EA}" type="presParOf" srcId="{39E3DCB9-AF82-40C8-86A3-47838CC7FA0F}" destId="{588DB37E-3E99-43CE-A250-587442C1BDEE}" srcOrd="2" destOrd="0" presId="urn:microsoft.com/office/officeart/2005/8/layout/default"/>
    <dgm:cxn modelId="{F7864944-9DFE-49AE-830B-42A6E20975BD}" type="presParOf" srcId="{39E3DCB9-AF82-40C8-86A3-47838CC7FA0F}" destId="{786D474B-3540-40C5-9CAD-1EF806C8B62D}" srcOrd="3" destOrd="0" presId="urn:microsoft.com/office/officeart/2005/8/layout/default"/>
    <dgm:cxn modelId="{99C9AEC4-5023-4E54-8CDC-7E492EE2A9B9}" type="presParOf" srcId="{39E3DCB9-AF82-40C8-86A3-47838CC7FA0F}" destId="{8051759E-6FEB-4212-9D13-37E7A8DB12F2}" srcOrd="4" destOrd="0" presId="urn:microsoft.com/office/officeart/2005/8/layout/default"/>
    <dgm:cxn modelId="{B45323B9-7185-4D34-8EDD-CC14A062A84C}" type="presParOf" srcId="{39E3DCB9-AF82-40C8-86A3-47838CC7FA0F}" destId="{628FB1E1-9AC3-42A2-BDAF-F0449E2AB166}" srcOrd="5" destOrd="0" presId="urn:microsoft.com/office/officeart/2005/8/layout/default"/>
    <dgm:cxn modelId="{A239BE46-1A1F-4E5B-8F74-BCE883D43B50}" type="presParOf" srcId="{39E3DCB9-AF82-40C8-86A3-47838CC7FA0F}" destId="{9EB08AA5-6BEA-4A72-8243-49284B738BAE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35B8A38-5F9D-4ABB-864F-561C504400A2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1D9F13A-3B70-4CC3-827C-8E8474F0341B}">
      <dgm:prSet/>
      <dgm:spPr/>
      <dgm:t>
        <a:bodyPr/>
        <a:lstStyle/>
        <a:p>
          <a:r>
            <a:rPr lang="en-GB" dirty="0">
              <a:latin typeface="Trebuchet MS" panose="020B0603020202020204" pitchFamily="34" charset="0"/>
            </a:rPr>
            <a:t>Let's have a look at my data skills in action with some case studies.</a:t>
          </a:r>
          <a:endParaRPr lang="en-US" dirty="0">
            <a:latin typeface="Trebuchet MS" panose="020B0603020202020204" pitchFamily="34" charset="0"/>
          </a:endParaRPr>
        </a:p>
      </dgm:t>
    </dgm:pt>
    <dgm:pt modelId="{9507DBF2-641F-4785-A780-6B6EAF2987D0}" type="parTrans" cxnId="{D6EA7E28-A4D2-40E3-8FB5-BC6DFE6EEE94}">
      <dgm:prSet/>
      <dgm:spPr/>
      <dgm:t>
        <a:bodyPr/>
        <a:lstStyle/>
        <a:p>
          <a:endParaRPr lang="en-US"/>
        </a:p>
      </dgm:t>
    </dgm:pt>
    <dgm:pt modelId="{31C67012-3122-474D-8A4A-45D671E9C616}" type="sibTrans" cxnId="{D6EA7E28-A4D2-40E3-8FB5-BC6DFE6EEE94}">
      <dgm:prSet/>
      <dgm:spPr/>
      <dgm:t>
        <a:bodyPr/>
        <a:lstStyle/>
        <a:p>
          <a:endParaRPr lang="en-US"/>
        </a:p>
      </dgm:t>
    </dgm:pt>
    <dgm:pt modelId="{CEAC6E23-74F5-4968-B590-74481EFACE28}">
      <dgm:prSet/>
      <dgm:spPr/>
      <dgm:t>
        <a:bodyPr/>
        <a:lstStyle/>
        <a:p>
          <a:r>
            <a:rPr lang="en-GB" dirty="0">
              <a:latin typeface="Trebuchet MS" panose="020B0603020202020204" pitchFamily="34" charset="0"/>
            </a:rPr>
            <a:t>We will start by looking at a successful company, including the factors that led to their success and how they adapted and transformed over time.</a:t>
          </a:r>
          <a:endParaRPr lang="en-US" dirty="0">
            <a:latin typeface="Trebuchet MS" panose="020B0603020202020204" pitchFamily="34" charset="0"/>
          </a:endParaRPr>
        </a:p>
      </dgm:t>
    </dgm:pt>
    <dgm:pt modelId="{F2AFB1E4-EA91-486F-A949-F9C96A62867E}" type="parTrans" cxnId="{1555F79B-A52F-4AB4-825D-A1CFECCCF3D2}">
      <dgm:prSet/>
      <dgm:spPr/>
      <dgm:t>
        <a:bodyPr/>
        <a:lstStyle/>
        <a:p>
          <a:endParaRPr lang="en-US"/>
        </a:p>
      </dgm:t>
    </dgm:pt>
    <dgm:pt modelId="{71B83E1A-A533-4D2E-BF75-80B9510D7A1D}" type="sibTrans" cxnId="{1555F79B-A52F-4AB4-825D-A1CFECCCF3D2}">
      <dgm:prSet/>
      <dgm:spPr/>
      <dgm:t>
        <a:bodyPr/>
        <a:lstStyle/>
        <a:p>
          <a:endParaRPr lang="en-US"/>
        </a:p>
      </dgm:t>
    </dgm:pt>
    <dgm:pt modelId="{2EA62329-6CE7-4603-B1A8-87E8AF514331}">
      <dgm:prSet/>
      <dgm:spPr/>
      <dgm:t>
        <a:bodyPr/>
        <a:lstStyle/>
        <a:p>
          <a:r>
            <a:rPr lang="en-GB" dirty="0">
              <a:latin typeface="Trebuchet MS" panose="020B0603020202020204" pitchFamily="34" charset="0"/>
            </a:rPr>
            <a:t>For this we will be looking at NVIDIA.</a:t>
          </a:r>
          <a:endParaRPr lang="en-US" dirty="0">
            <a:latin typeface="Trebuchet MS" panose="020B0603020202020204" pitchFamily="34" charset="0"/>
          </a:endParaRPr>
        </a:p>
      </dgm:t>
    </dgm:pt>
    <dgm:pt modelId="{F98FB8CC-5FF3-4ACF-894B-1DC0AAA01285}" type="parTrans" cxnId="{13A310EF-1CCB-4BCA-864C-6762A9B3E851}">
      <dgm:prSet/>
      <dgm:spPr/>
      <dgm:t>
        <a:bodyPr/>
        <a:lstStyle/>
        <a:p>
          <a:endParaRPr lang="en-US"/>
        </a:p>
      </dgm:t>
    </dgm:pt>
    <dgm:pt modelId="{B609A246-2698-4460-9812-7A800563125A}" type="sibTrans" cxnId="{13A310EF-1CCB-4BCA-864C-6762A9B3E851}">
      <dgm:prSet/>
      <dgm:spPr/>
      <dgm:t>
        <a:bodyPr/>
        <a:lstStyle/>
        <a:p>
          <a:endParaRPr lang="en-US"/>
        </a:p>
      </dgm:t>
    </dgm:pt>
    <dgm:pt modelId="{43104A05-8445-4489-A2DD-6E25DC3ECD7C}" type="pres">
      <dgm:prSet presAssocID="{035B8A38-5F9D-4ABB-864F-561C504400A2}" presName="vert0" presStyleCnt="0">
        <dgm:presLayoutVars>
          <dgm:dir/>
          <dgm:animOne val="branch"/>
          <dgm:animLvl val="lvl"/>
        </dgm:presLayoutVars>
      </dgm:prSet>
      <dgm:spPr/>
    </dgm:pt>
    <dgm:pt modelId="{104C2E5B-F1CB-42BB-96E8-9D84C9455E40}" type="pres">
      <dgm:prSet presAssocID="{C1D9F13A-3B70-4CC3-827C-8E8474F0341B}" presName="thickLine" presStyleLbl="alignNode1" presStyleIdx="0" presStyleCnt="3"/>
      <dgm:spPr/>
    </dgm:pt>
    <dgm:pt modelId="{C6AC97E7-BF1C-47A8-9A76-7F9067373CEB}" type="pres">
      <dgm:prSet presAssocID="{C1D9F13A-3B70-4CC3-827C-8E8474F0341B}" presName="horz1" presStyleCnt="0"/>
      <dgm:spPr/>
    </dgm:pt>
    <dgm:pt modelId="{B37EF7A3-89C3-480C-927F-579798E6ED50}" type="pres">
      <dgm:prSet presAssocID="{C1D9F13A-3B70-4CC3-827C-8E8474F0341B}" presName="tx1" presStyleLbl="revTx" presStyleIdx="0" presStyleCnt="3"/>
      <dgm:spPr/>
    </dgm:pt>
    <dgm:pt modelId="{BC709A55-FD3C-433A-816B-0C04690B85F6}" type="pres">
      <dgm:prSet presAssocID="{C1D9F13A-3B70-4CC3-827C-8E8474F0341B}" presName="vert1" presStyleCnt="0"/>
      <dgm:spPr/>
    </dgm:pt>
    <dgm:pt modelId="{2BFEBC53-A6B3-493C-907F-62BA7D91A07D}" type="pres">
      <dgm:prSet presAssocID="{CEAC6E23-74F5-4968-B590-74481EFACE28}" presName="thickLine" presStyleLbl="alignNode1" presStyleIdx="1" presStyleCnt="3"/>
      <dgm:spPr/>
    </dgm:pt>
    <dgm:pt modelId="{E41A74BB-B499-4DE5-8DE1-CC1FE3D7C2DD}" type="pres">
      <dgm:prSet presAssocID="{CEAC6E23-74F5-4968-B590-74481EFACE28}" presName="horz1" presStyleCnt="0"/>
      <dgm:spPr/>
    </dgm:pt>
    <dgm:pt modelId="{7D10903F-4D00-4EE8-8EAC-388A6D7D00A6}" type="pres">
      <dgm:prSet presAssocID="{CEAC6E23-74F5-4968-B590-74481EFACE28}" presName="tx1" presStyleLbl="revTx" presStyleIdx="1" presStyleCnt="3"/>
      <dgm:spPr/>
    </dgm:pt>
    <dgm:pt modelId="{DB7C6198-0D86-4C85-9943-B593B75A6F71}" type="pres">
      <dgm:prSet presAssocID="{CEAC6E23-74F5-4968-B590-74481EFACE28}" presName="vert1" presStyleCnt="0"/>
      <dgm:spPr/>
    </dgm:pt>
    <dgm:pt modelId="{A64E6B06-B601-4DFA-8C8A-D99CC56254FA}" type="pres">
      <dgm:prSet presAssocID="{2EA62329-6CE7-4603-B1A8-87E8AF514331}" presName="thickLine" presStyleLbl="alignNode1" presStyleIdx="2" presStyleCnt="3"/>
      <dgm:spPr/>
    </dgm:pt>
    <dgm:pt modelId="{3DE92706-3FD0-40F8-A0C5-B659B7CC2075}" type="pres">
      <dgm:prSet presAssocID="{2EA62329-6CE7-4603-B1A8-87E8AF514331}" presName="horz1" presStyleCnt="0"/>
      <dgm:spPr/>
    </dgm:pt>
    <dgm:pt modelId="{29238D1B-92C8-4DCF-8187-341738D4663D}" type="pres">
      <dgm:prSet presAssocID="{2EA62329-6CE7-4603-B1A8-87E8AF514331}" presName="tx1" presStyleLbl="revTx" presStyleIdx="2" presStyleCnt="3"/>
      <dgm:spPr/>
    </dgm:pt>
    <dgm:pt modelId="{91DC3E48-73E5-4226-9A86-D2758623B9E3}" type="pres">
      <dgm:prSet presAssocID="{2EA62329-6CE7-4603-B1A8-87E8AF514331}" presName="vert1" presStyleCnt="0"/>
      <dgm:spPr/>
    </dgm:pt>
  </dgm:ptLst>
  <dgm:cxnLst>
    <dgm:cxn modelId="{59813B20-FDD6-4636-81BB-724CE20105D5}" type="presOf" srcId="{CEAC6E23-74F5-4968-B590-74481EFACE28}" destId="{7D10903F-4D00-4EE8-8EAC-388A6D7D00A6}" srcOrd="0" destOrd="0" presId="urn:microsoft.com/office/officeart/2008/layout/LinedList"/>
    <dgm:cxn modelId="{D6EA7E28-A4D2-40E3-8FB5-BC6DFE6EEE94}" srcId="{035B8A38-5F9D-4ABB-864F-561C504400A2}" destId="{C1D9F13A-3B70-4CC3-827C-8E8474F0341B}" srcOrd="0" destOrd="0" parTransId="{9507DBF2-641F-4785-A780-6B6EAF2987D0}" sibTransId="{31C67012-3122-474D-8A4A-45D671E9C616}"/>
    <dgm:cxn modelId="{94559260-26CD-4646-95BB-F4014EEA3EA2}" type="presOf" srcId="{035B8A38-5F9D-4ABB-864F-561C504400A2}" destId="{43104A05-8445-4489-A2DD-6E25DC3ECD7C}" srcOrd="0" destOrd="0" presId="urn:microsoft.com/office/officeart/2008/layout/LinedList"/>
    <dgm:cxn modelId="{25FEC887-D1EC-4B63-B308-DC5F195E8A3D}" type="presOf" srcId="{2EA62329-6CE7-4603-B1A8-87E8AF514331}" destId="{29238D1B-92C8-4DCF-8187-341738D4663D}" srcOrd="0" destOrd="0" presId="urn:microsoft.com/office/officeart/2008/layout/LinedList"/>
    <dgm:cxn modelId="{1555F79B-A52F-4AB4-825D-A1CFECCCF3D2}" srcId="{035B8A38-5F9D-4ABB-864F-561C504400A2}" destId="{CEAC6E23-74F5-4968-B590-74481EFACE28}" srcOrd="1" destOrd="0" parTransId="{F2AFB1E4-EA91-486F-A949-F9C96A62867E}" sibTransId="{71B83E1A-A533-4D2E-BF75-80B9510D7A1D}"/>
    <dgm:cxn modelId="{3E9EDDB5-27F5-40A2-B25F-111486302C40}" type="presOf" srcId="{C1D9F13A-3B70-4CC3-827C-8E8474F0341B}" destId="{B37EF7A3-89C3-480C-927F-579798E6ED50}" srcOrd="0" destOrd="0" presId="urn:microsoft.com/office/officeart/2008/layout/LinedList"/>
    <dgm:cxn modelId="{13A310EF-1CCB-4BCA-864C-6762A9B3E851}" srcId="{035B8A38-5F9D-4ABB-864F-561C504400A2}" destId="{2EA62329-6CE7-4603-B1A8-87E8AF514331}" srcOrd="2" destOrd="0" parTransId="{F98FB8CC-5FF3-4ACF-894B-1DC0AAA01285}" sibTransId="{B609A246-2698-4460-9812-7A800563125A}"/>
    <dgm:cxn modelId="{90E67C32-EC88-4732-ACD0-1128827AE5C9}" type="presParOf" srcId="{43104A05-8445-4489-A2DD-6E25DC3ECD7C}" destId="{104C2E5B-F1CB-42BB-96E8-9D84C9455E40}" srcOrd="0" destOrd="0" presId="urn:microsoft.com/office/officeart/2008/layout/LinedList"/>
    <dgm:cxn modelId="{5E8B2E75-39F8-4EBE-A984-3F32D6514E33}" type="presParOf" srcId="{43104A05-8445-4489-A2DD-6E25DC3ECD7C}" destId="{C6AC97E7-BF1C-47A8-9A76-7F9067373CEB}" srcOrd="1" destOrd="0" presId="urn:microsoft.com/office/officeart/2008/layout/LinedList"/>
    <dgm:cxn modelId="{442E5482-0F84-4849-BE40-7288BC04347B}" type="presParOf" srcId="{C6AC97E7-BF1C-47A8-9A76-7F9067373CEB}" destId="{B37EF7A3-89C3-480C-927F-579798E6ED50}" srcOrd="0" destOrd="0" presId="urn:microsoft.com/office/officeart/2008/layout/LinedList"/>
    <dgm:cxn modelId="{88343A8B-0609-4E53-864A-4AF318194A66}" type="presParOf" srcId="{C6AC97E7-BF1C-47A8-9A76-7F9067373CEB}" destId="{BC709A55-FD3C-433A-816B-0C04690B85F6}" srcOrd="1" destOrd="0" presId="urn:microsoft.com/office/officeart/2008/layout/LinedList"/>
    <dgm:cxn modelId="{6890812A-F45D-4E96-A7D6-BFA3C466FDE3}" type="presParOf" srcId="{43104A05-8445-4489-A2DD-6E25DC3ECD7C}" destId="{2BFEBC53-A6B3-493C-907F-62BA7D91A07D}" srcOrd="2" destOrd="0" presId="urn:microsoft.com/office/officeart/2008/layout/LinedList"/>
    <dgm:cxn modelId="{9E6DE248-6E39-4706-9CC2-85394B9AEA1B}" type="presParOf" srcId="{43104A05-8445-4489-A2DD-6E25DC3ECD7C}" destId="{E41A74BB-B499-4DE5-8DE1-CC1FE3D7C2DD}" srcOrd="3" destOrd="0" presId="urn:microsoft.com/office/officeart/2008/layout/LinedList"/>
    <dgm:cxn modelId="{575E1F1C-0C1C-47A6-BB89-83E6C1AF261D}" type="presParOf" srcId="{E41A74BB-B499-4DE5-8DE1-CC1FE3D7C2DD}" destId="{7D10903F-4D00-4EE8-8EAC-388A6D7D00A6}" srcOrd="0" destOrd="0" presId="urn:microsoft.com/office/officeart/2008/layout/LinedList"/>
    <dgm:cxn modelId="{2A94A38A-98A8-48AE-AF57-3D2C95990DCA}" type="presParOf" srcId="{E41A74BB-B499-4DE5-8DE1-CC1FE3D7C2DD}" destId="{DB7C6198-0D86-4C85-9943-B593B75A6F71}" srcOrd="1" destOrd="0" presId="urn:microsoft.com/office/officeart/2008/layout/LinedList"/>
    <dgm:cxn modelId="{D463C0BE-DB32-4C5D-9521-18A0D5E3663E}" type="presParOf" srcId="{43104A05-8445-4489-A2DD-6E25DC3ECD7C}" destId="{A64E6B06-B601-4DFA-8C8A-D99CC56254FA}" srcOrd="4" destOrd="0" presId="urn:microsoft.com/office/officeart/2008/layout/LinedList"/>
    <dgm:cxn modelId="{DF73FF46-CE9A-4AED-9A69-C18030F670DA}" type="presParOf" srcId="{43104A05-8445-4489-A2DD-6E25DC3ECD7C}" destId="{3DE92706-3FD0-40F8-A0C5-B659B7CC2075}" srcOrd="5" destOrd="0" presId="urn:microsoft.com/office/officeart/2008/layout/LinedList"/>
    <dgm:cxn modelId="{E7A52AE1-19F6-4F63-9F0F-64669920E89F}" type="presParOf" srcId="{3DE92706-3FD0-40F8-A0C5-B659B7CC2075}" destId="{29238D1B-92C8-4DCF-8187-341738D4663D}" srcOrd="0" destOrd="0" presId="urn:microsoft.com/office/officeart/2008/layout/LinedList"/>
    <dgm:cxn modelId="{9445BDE0-A333-4BB8-9753-48F641677D59}" type="presParOf" srcId="{3DE92706-3FD0-40F8-A0C5-B659B7CC2075}" destId="{91DC3E48-73E5-4226-9A86-D2758623B9E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4F66CB-3946-440D-8F56-EB5B5DCCF937}">
      <dsp:nvSpPr>
        <dsp:cNvPr id="0" name=""/>
        <dsp:cNvSpPr/>
      </dsp:nvSpPr>
      <dsp:spPr>
        <a:xfrm>
          <a:off x="0" y="71676"/>
          <a:ext cx="4818888" cy="10810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>
              <a:latin typeface="Trebuchet MS" panose="020B0603020202020204" pitchFamily="34" charset="0"/>
            </a:rPr>
            <a:t>Hobbies: Gym, Fishing, Hiking, Programming.</a:t>
          </a:r>
          <a:endParaRPr lang="en-US" sz="2800" kern="1200" dirty="0">
            <a:latin typeface="Trebuchet MS" panose="020B0603020202020204" pitchFamily="34" charset="0"/>
          </a:endParaRPr>
        </a:p>
      </dsp:txBody>
      <dsp:txXfrm>
        <a:off x="52774" y="124450"/>
        <a:ext cx="4713340" cy="975532"/>
      </dsp:txXfrm>
    </dsp:sp>
    <dsp:sp modelId="{B84E440E-CEEF-4D3A-B209-367CE40EE9C7}">
      <dsp:nvSpPr>
        <dsp:cNvPr id="0" name=""/>
        <dsp:cNvSpPr/>
      </dsp:nvSpPr>
      <dsp:spPr>
        <a:xfrm>
          <a:off x="0" y="1233396"/>
          <a:ext cx="4818888" cy="10810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>
              <a:latin typeface="Trebuchet MS" panose="020B0603020202020204" pitchFamily="34" charset="0"/>
            </a:rPr>
            <a:t>Passions: Philosophy, Music, History, Healthy Lifestyle.</a:t>
          </a:r>
        </a:p>
      </dsp:txBody>
      <dsp:txXfrm>
        <a:off x="52774" y="1286170"/>
        <a:ext cx="4713340" cy="975532"/>
      </dsp:txXfrm>
    </dsp:sp>
    <dsp:sp modelId="{8C040115-7408-4248-8A03-A78B44D8B1D6}">
      <dsp:nvSpPr>
        <dsp:cNvPr id="0" name=""/>
        <dsp:cNvSpPr/>
      </dsp:nvSpPr>
      <dsp:spPr>
        <a:xfrm>
          <a:off x="0" y="2395116"/>
          <a:ext cx="4818888" cy="10810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>
              <a:latin typeface="Trebuchet MS" panose="020B0603020202020204" pitchFamily="34" charset="0"/>
            </a:rPr>
            <a:t>Values: Hard work, Morality, Determination, Friendship</a:t>
          </a:r>
        </a:p>
      </dsp:txBody>
      <dsp:txXfrm>
        <a:off x="52774" y="2447890"/>
        <a:ext cx="4713340" cy="9755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CC1D39-1124-4785-BD6D-DD39E143A1D4}">
      <dsp:nvSpPr>
        <dsp:cNvPr id="0" name=""/>
        <dsp:cNvSpPr/>
      </dsp:nvSpPr>
      <dsp:spPr>
        <a:xfrm>
          <a:off x="402550" y="1992"/>
          <a:ext cx="3034531" cy="18207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 dirty="0">
              <a:latin typeface="Trebuchet MS" panose="020B0603020202020204" pitchFamily="34" charset="0"/>
            </a:rPr>
            <a:t>Data-driven consultancy fits my career goals</a:t>
          </a:r>
          <a:endParaRPr lang="en-US" sz="3000" kern="1200" dirty="0">
            <a:latin typeface="Trebuchet MS" panose="020B0603020202020204" pitchFamily="34" charset="0"/>
          </a:endParaRPr>
        </a:p>
      </dsp:txBody>
      <dsp:txXfrm>
        <a:off x="402550" y="1992"/>
        <a:ext cx="3034531" cy="1820718"/>
      </dsp:txXfrm>
    </dsp:sp>
    <dsp:sp modelId="{588DB37E-3E99-43CE-A250-587442C1BDEE}">
      <dsp:nvSpPr>
        <dsp:cNvPr id="0" name=""/>
        <dsp:cNvSpPr/>
      </dsp:nvSpPr>
      <dsp:spPr>
        <a:xfrm>
          <a:off x="3740534" y="1992"/>
          <a:ext cx="3034531" cy="182071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Trebuchet MS" panose="020B0603020202020204" pitchFamily="34" charset="0"/>
            </a:rPr>
            <a:t>Apply data skills in real client environments</a:t>
          </a:r>
        </a:p>
      </dsp:txBody>
      <dsp:txXfrm>
        <a:off x="3740534" y="1992"/>
        <a:ext cx="3034531" cy="1820718"/>
      </dsp:txXfrm>
    </dsp:sp>
    <dsp:sp modelId="{8051759E-6FEB-4212-9D13-37E7A8DB12F2}">
      <dsp:nvSpPr>
        <dsp:cNvPr id="0" name=""/>
        <dsp:cNvSpPr/>
      </dsp:nvSpPr>
      <dsp:spPr>
        <a:xfrm>
          <a:off x="7078518" y="1992"/>
          <a:ext cx="3034531" cy="182071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 dirty="0">
              <a:latin typeface="Trebuchet MS" panose="020B0603020202020204" pitchFamily="34" charset="0"/>
            </a:rPr>
            <a:t>Consultancy suits my strengths</a:t>
          </a:r>
          <a:endParaRPr lang="en-US" sz="3000" kern="1200" dirty="0">
            <a:latin typeface="Trebuchet MS" panose="020B0603020202020204" pitchFamily="34" charset="0"/>
          </a:endParaRPr>
        </a:p>
      </dsp:txBody>
      <dsp:txXfrm>
        <a:off x="7078518" y="1992"/>
        <a:ext cx="3034531" cy="1820718"/>
      </dsp:txXfrm>
    </dsp:sp>
    <dsp:sp modelId="{9EB08AA5-6BEA-4A72-8243-49284B738BAE}">
      <dsp:nvSpPr>
        <dsp:cNvPr id="0" name=""/>
        <dsp:cNvSpPr/>
      </dsp:nvSpPr>
      <dsp:spPr>
        <a:xfrm>
          <a:off x="3740534" y="2126164"/>
          <a:ext cx="3034531" cy="182071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Trebuchet MS" panose="020B0603020202020204" pitchFamily="34" charset="0"/>
            </a:rPr>
            <a:t>Values that align with how I work</a:t>
          </a:r>
        </a:p>
      </dsp:txBody>
      <dsp:txXfrm>
        <a:off x="3740534" y="2126164"/>
        <a:ext cx="3034531" cy="18207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4C2E5B-F1CB-42BB-96E8-9D84C9455E40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7EF7A3-89C3-480C-927F-579798E6ED50}">
      <dsp:nvSpPr>
        <dsp:cNvPr id="0" name=""/>
        <dsp:cNvSpPr/>
      </dsp:nvSpPr>
      <dsp:spPr>
        <a:xfrm>
          <a:off x="0" y="2703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 dirty="0">
              <a:latin typeface="Trebuchet MS" panose="020B0603020202020204" pitchFamily="34" charset="0"/>
            </a:rPr>
            <a:t>Let's have a look at my data skills in action with some case studies.</a:t>
          </a:r>
          <a:endParaRPr lang="en-US" sz="3000" kern="1200" dirty="0">
            <a:latin typeface="Trebuchet MS" panose="020B0603020202020204" pitchFamily="34" charset="0"/>
          </a:endParaRPr>
        </a:p>
      </dsp:txBody>
      <dsp:txXfrm>
        <a:off x="0" y="2703"/>
        <a:ext cx="6900512" cy="1843578"/>
      </dsp:txXfrm>
    </dsp:sp>
    <dsp:sp modelId="{2BFEBC53-A6B3-493C-907F-62BA7D91A07D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10903F-4D00-4EE8-8EAC-388A6D7D00A6}">
      <dsp:nvSpPr>
        <dsp:cNvPr id="0" name=""/>
        <dsp:cNvSpPr/>
      </dsp:nvSpPr>
      <dsp:spPr>
        <a:xfrm>
          <a:off x="0" y="1846281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 dirty="0">
              <a:latin typeface="Trebuchet MS" panose="020B0603020202020204" pitchFamily="34" charset="0"/>
            </a:rPr>
            <a:t>We will start by looking at a successful company, including the factors that led to their success and how they adapted and transformed over time.</a:t>
          </a:r>
          <a:endParaRPr lang="en-US" sz="3000" kern="1200" dirty="0">
            <a:latin typeface="Trebuchet MS" panose="020B0603020202020204" pitchFamily="34" charset="0"/>
          </a:endParaRPr>
        </a:p>
      </dsp:txBody>
      <dsp:txXfrm>
        <a:off x="0" y="1846281"/>
        <a:ext cx="6900512" cy="1843578"/>
      </dsp:txXfrm>
    </dsp:sp>
    <dsp:sp modelId="{A64E6B06-B601-4DFA-8C8A-D99CC56254FA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238D1B-92C8-4DCF-8187-341738D4663D}">
      <dsp:nvSpPr>
        <dsp:cNvPr id="0" name=""/>
        <dsp:cNvSpPr/>
      </dsp:nvSpPr>
      <dsp:spPr>
        <a:xfrm>
          <a:off x="0" y="3689859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 dirty="0">
              <a:latin typeface="Trebuchet MS" panose="020B0603020202020204" pitchFamily="34" charset="0"/>
            </a:rPr>
            <a:t>For this we will be looking at NVIDIA.</a:t>
          </a:r>
          <a:endParaRPr lang="en-US" sz="3000" kern="1200" dirty="0">
            <a:latin typeface="Trebuchet MS" panose="020B0603020202020204" pitchFamily="34" charset="0"/>
          </a:endParaRPr>
        </a:p>
      </dsp:txBody>
      <dsp:txXfrm>
        <a:off x="0" y="3689859"/>
        <a:ext cx="6900512" cy="18435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2BC1C7-4AA0-4340-AB11-9B8AB1749140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AC7595-F8D7-49BA-8F45-952A0071FF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0874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Note: Process Optimisation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AC7595-F8D7-49BA-8F45-952A0071FFE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495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AC7595-F8D7-49BA-8F45-952A0071FFE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0223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Note: Accelerated computing e.g. Crypto Mining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AC7595-F8D7-49BA-8F45-952A0071FFE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5224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310D0-BA02-20ED-C16B-26B447A7A6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75285C-8930-7626-4830-83DEE116D5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C8504-0AE9-6C01-E046-E49AAE293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1FF82-65DF-44E7-8321-0FC300C234C4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3969D-D918-311B-9B46-1AB420F4F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31C35-1836-FF88-2742-3C4E62BAA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5028-8944-4C31-B2EE-B4ADB91E4C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8593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05E07-94C5-52B4-0728-9F718C5AA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C42B0-0E3A-42D5-1409-729EA623E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2B84D-0EB2-1B5A-301B-17A08B733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1FF82-65DF-44E7-8321-0FC300C234C4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34C87-F14F-7C18-4D7A-9F5CB87AF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7E508-D4D6-378E-ECD2-F00443D63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5028-8944-4C31-B2EE-B4ADB91E4C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3448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CF951-7A2C-5FB8-4474-726EF8EE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81386F-E5E8-6793-2081-930F42B2E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BAC5C-0258-270B-31D1-166DB461A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1FF82-65DF-44E7-8321-0FC300C234C4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CF4CF-4381-8119-3575-CEACF2C4D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357ED-0C88-A02D-1773-4E020873D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5028-8944-4C31-B2EE-B4ADB91E4C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5721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1ACBA-6B1F-1811-D0BF-B29381360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B7C33-65B8-B8BD-F59C-AFB30EB80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A76041-DB99-9CB9-E2B6-AEA2B1C634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8546CA-622F-AC02-8975-7349D0279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1FF82-65DF-44E7-8321-0FC300C234C4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24EC9-28C5-3B74-FB68-1981AF0F5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FCECE-ACE4-1B05-A724-6982032CD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5028-8944-4C31-B2EE-B4ADB91E4C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898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1457F-1DBE-C09B-361B-11B17D4E5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18821-55AB-70C9-E07A-F15D478E5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14B1A2-E555-A359-B7C0-28440F3D57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02C6A2-AFD0-3324-579A-85361E7834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780D2E-84F8-8745-AF76-A242554026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4EE2DF-4865-4114-9F3F-1534E0A2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1FF82-65DF-44E7-8321-0FC300C234C4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F03767-C7B8-5885-6DDC-B4A9C3141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D19C98-182D-EB1D-F371-D8660DD7C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5028-8944-4C31-B2EE-B4ADB91E4C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4103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9D365-E502-9455-A0BA-455CFC52C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0AB7F7-DB13-3E34-A23B-E4046EE9A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1FF82-65DF-44E7-8321-0FC300C234C4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520AFC-097C-7B16-F52D-88260E4A3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0194C2-00A9-2CC7-D7AD-10090054D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5028-8944-4C31-B2EE-B4ADB91E4C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215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9D25FF-E8A6-F8C5-0E09-FCCA1045E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1FF82-65DF-44E7-8321-0FC300C234C4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D90F95-702E-71B7-A117-7B1B29DB5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FA2127-C866-B757-E089-365F8F645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5028-8944-4C31-B2EE-B4ADB91E4C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6453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829F-DA04-4661-4BF8-B6A389278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B2522-E639-DF2A-109D-B3ECA83FA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610332-EF15-9643-EF54-75EB2521F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4C281F-1948-28D6-F8EA-31704BB5C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1FF82-65DF-44E7-8321-0FC300C234C4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72A404-5ECA-C5FF-BE46-ECD9A73FA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851204-A1E8-40B8-1B52-ED28CCAC7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5028-8944-4C31-B2EE-B4ADB91E4C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410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67B7A-28C4-5D68-8F04-081B33AA2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18F5A9-25A8-6770-7BE4-4CA3D8DDD4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FBB3A7-11F5-2AE3-7B36-076B30A14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1807B1-C253-E745-93E0-9348EBE17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1FF82-65DF-44E7-8321-0FC300C234C4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1DAC5-0494-6454-A939-38C5BA87E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1FE88-2AFD-2D8E-8EE4-B6A1C8E62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5028-8944-4C31-B2EE-B4ADB91E4C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9526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E82A4-3E0C-DA6E-7F66-F9EBDE6DD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6E3568-5C1F-7B1A-E92A-EE2F57F65E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8980F-FF27-8660-C260-7472F6131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1FF82-65DF-44E7-8321-0FC300C234C4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8B070-5FFB-1A1F-2DF6-53840527C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8C1A2-242C-4DA7-26D4-A69334A7B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5028-8944-4C31-B2EE-B4ADB91E4C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158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D26FD9-43A0-0046-83D6-B0A2476F07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93EB58-5ED1-E5D4-3574-7AFDEF6CCE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CCCD1-FEF0-FF18-240E-E9BDB85E2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1FF82-65DF-44E7-8321-0FC300C234C4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65185-0332-CCA1-7130-E6DAA0812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B2DCC-480A-253B-5B45-E189735F6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5028-8944-4C31-B2EE-B4ADB91E4C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8649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AEAFEC-5736-395D-24E9-37928BA90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E8354-662A-B55A-9554-50BFAF177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27F27-A35B-F311-2B5B-A152071AD8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31FF82-65DF-44E7-8321-0FC300C234C4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30D84-DDBF-1B2B-8007-73B5594A49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648C8-957C-17E5-515D-5F41091D7C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8D5028-8944-4C31-B2EE-B4ADB91E4C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6009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rbes.com/sites/roberthart/2024/06/19/chip-stock-rally-continues-wednesday-after-ai-boom-catapults-nvidia-to-worlds-most-valuable-company/" TargetMode="External"/><Relationship Id="rId2" Type="http://schemas.openxmlformats.org/officeDocument/2006/relationships/hyperlink" Target="https://finance.yahoo.com/news/nvidia-touches-1-trillion-market-cap-as-chipmaker-rides-ai-wave-133530381.html?guccounter=1&amp;guce_referrer=aHR0cHM6Ly9lbi53aWtpcGVkaWEub3JnLw&amp;guce_referrer_sig=AQAAAGDxdeCwmuDkTrAnMv945SgYGIQPkt7qe2wcvDWEOIc57wCOvOKDab1qHaKGpjQzDhmulKTawNOMuJBqMSEX_Cr4D3cSbRXt8iDD2f0kI8n9eA5QPQTfVSc1IY2XSSVHCXavQQK4jvbbow35DqCWKWGB30HqznZvm9yRgV3CGU83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nvidianews.nvidia.com/news/nvidia-announces-financial-results-for-first-quarter-fiscal-2027" TargetMode="External"/><Relationship Id="rId2" Type="http://schemas.openxmlformats.org/officeDocument/2006/relationships/hyperlink" Target="https://techcrunch.com/2016/04/05/nvidia-announces-a-supercomputer-aimed-at-deep-learning-and-ai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hyperlink" Target="https://uk.finance.yahoo.com/news/nvidia-enters-windows-laptop-market-taking-on-intel-and-amd-042523139.htm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uters.com/technology/intel-board-member-quit-after-differences-over-chipmakers-revival-plan-2024-08-27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hyperlink" Target="https://www.intc.com/news-events/press-releases/detail/1767/intel-reports-first-quarter-2026-financial-results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uters.com/technology/nvidia-replace-intel-dow-jones-industrial-average-2024-11-01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1ex-21/My_Portfolio/blob/main/Case_Studies/Web_Scraping/Data/Intel%20Revenue%20Excel%20Workbook.xlsx" TargetMode="External"/><Relationship Id="rId3" Type="http://schemas.openxmlformats.org/officeDocument/2006/relationships/hyperlink" Target="https://github.com/A1ex-21/My_Portfolio/blob/main/Case_Studies/Web_Scraping/Data/NVIDIA%20Revenue.csv" TargetMode="External"/><Relationship Id="rId7" Type="http://schemas.openxmlformats.org/officeDocument/2006/relationships/hyperlink" Target="https://github.com/A1ex-21/My_Portfolio/blob/main/Case_Studies/Web_Scraping/Data/Intel%20Share%20Price%203%20Months.csv" TargetMode="External"/><Relationship Id="rId2" Type="http://schemas.openxmlformats.org/officeDocument/2006/relationships/hyperlink" Target="https://github.com/A1ex-21/My_Portfolio/blob/main/Case_Studies/Web_Scraping/Web_Scraping_for_NVIDIA_and_Intel.m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A1ex-21/My_Portfolio/blob/main/Case_Studies/Web_Scraping/Data/Intel%20Quarterly%20Revenue.csv" TargetMode="External"/><Relationship Id="rId5" Type="http://schemas.openxmlformats.org/officeDocument/2006/relationships/hyperlink" Target="https://github.com/A1ex-21/My_Portfolio/blob/main/Case_Studies/Web_Scraping/Data/NVIDIA%20Revenue%20Excel%20Workbook.xlsx" TargetMode="External"/><Relationship Id="rId4" Type="http://schemas.openxmlformats.org/officeDocument/2006/relationships/hyperlink" Target="https://github.com/A1ex-21/My_Portfolio/blob/main/Case_Studies/Web_Scraping/Data/NVIDIA%20Share%20Price%203%20Months.csv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7" name="Rectangle 22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9" name="Freeform: Shape 22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1" name="Freeform: Shape 23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5628C9-0FC2-07ED-9B72-9B84B10FD7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 fontScale="90000"/>
          </a:bodyPr>
          <a:lstStyle/>
          <a:p>
            <a:r>
              <a:rPr lang="en-GB" sz="6100" dirty="0">
                <a:latin typeface="Trebuchet MS" panose="020B0603020202020204" pitchFamily="34" charset="0"/>
              </a:rPr>
              <a:t>Grayce</a:t>
            </a:r>
            <a:br>
              <a:rPr lang="en-GB" sz="6100" dirty="0">
                <a:latin typeface="Trebuchet MS" panose="020B0603020202020204" pitchFamily="34" charset="0"/>
              </a:rPr>
            </a:br>
            <a:br>
              <a:rPr lang="en-GB" sz="6100" dirty="0">
                <a:latin typeface="Trebuchet MS" panose="020B0603020202020204" pitchFamily="34" charset="0"/>
              </a:rPr>
            </a:br>
            <a:r>
              <a:rPr lang="en-GB" sz="6100" dirty="0">
                <a:latin typeface="Trebuchet MS" panose="020B0603020202020204" pitchFamily="34" charset="0"/>
              </a:rPr>
              <a:t>Graduate Data Consultant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9CA127-F199-57B6-F477-365C4865A3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r>
              <a:rPr lang="en-GB" sz="1500" dirty="0">
                <a:latin typeface="Trebuchet MS" panose="020B0603020202020204" pitchFamily="34" charset="0"/>
              </a:rPr>
              <a:t>By</a:t>
            </a:r>
          </a:p>
          <a:p>
            <a:r>
              <a:rPr lang="en-GB" sz="1500" dirty="0">
                <a:latin typeface="Trebuchet MS" panose="020B0603020202020204" pitchFamily="34" charset="0"/>
              </a:rPr>
              <a:t>Alexander Thompson</a:t>
            </a:r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8038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415FF2-443F-C51D-6A89-110E34279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GB" sz="5400">
                <a:latin typeface="Trebuchet MS" panose="020B0603020202020204" pitchFamily="34" charset="0"/>
              </a:rPr>
              <a:t>About Me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D04CDA-DDC5-21FE-224F-25A2199E61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842" y="640080"/>
            <a:ext cx="4183380" cy="5577840"/>
          </a:xfrm>
          <a:prstGeom prst="rect">
            <a:avLst/>
          </a:prstGeom>
        </p:spPr>
      </p:pic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8FD0A7F6-26DF-F026-CEE7-DA2BB4CBEE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5585949"/>
              </p:ext>
            </p:extLst>
          </p:nvPr>
        </p:nvGraphicFramePr>
        <p:xfrm>
          <a:off x="630936" y="2660904"/>
          <a:ext cx="4818888" cy="3547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32632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94BFCCA4-109C-4B21-816E-144FE75C3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96ADE-8AC6-7D1A-DA8A-ED0B92B80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18" y="643465"/>
            <a:ext cx="3895359" cy="1846615"/>
          </a:xfrm>
        </p:spPr>
        <p:txBody>
          <a:bodyPr anchor="b">
            <a:normAutofit/>
          </a:bodyPr>
          <a:lstStyle/>
          <a:p>
            <a:r>
              <a:rPr lang="en-GB" sz="5400" dirty="0">
                <a:latin typeface="Trebuchet MS" panose="020B0603020202020204" pitchFamily="34" charset="0"/>
              </a:rPr>
              <a:t>Education &amp; Skills</a:t>
            </a:r>
          </a:p>
        </p:txBody>
      </p:sp>
      <p:sp>
        <p:nvSpPr>
          <p:cNvPr id="45" name="sketch line">
            <a:extLst>
              <a:ext uri="{FF2B5EF4-FFF2-40B4-BE49-F238E27FC236}">
                <a16:creationId xmlns:a16="http://schemas.microsoft.com/office/drawing/2014/main" id="{0059B5C0-FEC8-4370-AF45-02E3AEF6F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659144"/>
            <a:ext cx="3566160" cy="18288"/>
          </a:xfrm>
          <a:custGeom>
            <a:avLst/>
            <a:gdLst>
              <a:gd name="csX0" fmla="*/ 0 w 3566160"/>
              <a:gd name="csY0" fmla="*/ 0 h 18288"/>
              <a:gd name="csX1" fmla="*/ 665683 w 3566160"/>
              <a:gd name="csY1" fmla="*/ 0 h 18288"/>
              <a:gd name="csX2" fmla="*/ 1331366 w 3566160"/>
              <a:gd name="csY2" fmla="*/ 0 h 18288"/>
              <a:gd name="csX3" fmla="*/ 1818742 w 3566160"/>
              <a:gd name="csY3" fmla="*/ 0 h 18288"/>
              <a:gd name="csX4" fmla="*/ 2413102 w 3566160"/>
              <a:gd name="csY4" fmla="*/ 0 h 18288"/>
              <a:gd name="csX5" fmla="*/ 2936138 w 3566160"/>
              <a:gd name="csY5" fmla="*/ 0 h 18288"/>
              <a:gd name="csX6" fmla="*/ 3566160 w 3566160"/>
              <a:gd name="csY6" fmla="*/ 0 h 18288"/>
              <a:gd name="csX7" fmla="*/ 3566160 w 3566160"/>
              <a:gd name="csY7" fmla="*/ 18288 h 18288"/>
              <a:gd name="csX8" fmla="*/ 2971800 w 3566160"/>
              <a:gd name="csY8" fmla="*/ 18288 h 18288"/>
              <a:gd name="csX9" fmla="*/ 2448763 w 3566160"/>
              <a:gd name="csY9" fmla="*/ 18288 h 18288"/>
              <a:gd name="csX10" fmla="*/ 1854403 w 3566160"/>
              <a:gd name="csY10" fmla="*/ 18288 h 18288"/>
              <a:gd name="csX11" fmla="*/ 1295705 w 3566160"/>
              <a:gd name="csY11" fmla="*/ 18288 h 18288"/>
              <a:gd name="csX12" fmla="*/ 772668 w 3566160"/>
              <a:gd name="csY12" fmla="*/ 18288 h 18288"/>
              <a:gd name="csX13" fmla="*/ 0 w 3566160"/>
              <a:gd name="csY13" fmla="*/ 18288 h 18288"/>
              <a:gd name="csX14" fmla="*/ 0 w 3566160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566160" h="18288" fill="none" extrusionOk="0">
                <a:moveTo>
                  <a:pt x="0" y="0"/>
                </a:moveTo>
                <a:cubicBezTo>
                  <a:pt x="222644" y="15773"/>
                  <a:pt x="447078" y="-30288"/>
                  <a:pt x="665683" y="0"/>
                </a:cubicBezTo>
                <a:cubicBezTo>
                  <a:pt x="884288" y="30288"/>
                  <a:pt x="1132425" y="-6167"/>
                  <a:pt x="1331366" y="0"/>
                </a:cubicBezTo>
                <a:cubicBezTo>
                  <a:pt x="1530307" y="6167"/>
                  <a:pt x="1680942" y="17562"/>
                  <a:pt x="1818742" y="0"/>
                </a:cubicBezTo>
                <a:cubicBezTo>
                  <a:pt x="1956542" y="-17562"/>
                  <a:pt x="2130227" y="23032"/>
                  <a:pt x="2413102" y="0"/>
                </a:cubicBezTo>
                <a:cubicBezTo>
                  <a:pt x="2695977" y="-23032"/>
                  <a:pt x="2679988" y="-13260"/>
                  <a:pt x="2936138" y="0"/>
                </a:cubicBezTo>
                <a:cubicBezTo>
                  <a:pt x="3192288" y="13260"/>
                  <a:pt x="3378668" y="16268"/>
                  <a:pt x="3566160" y="0"/>
                </a:cubicBezTo>
                <a:cubicBezTo>
                  <a:pt x="3566199" y="7328"/>
                  <a:pt x="3566779" y="9982"/>
                  <a:pt x="3566160" y="18288"/>
                </a:cubicBezTo>
                <a:cubicBezTo>
                  <a:pt x="3315478" y="45899"/>
                  <a:pt x="3188272" y="-7574"/>
                  <a:pt x="2971800" y="18288"/>
                </a:cubicBezTo>
                <a:cubicBezTo>
                  <a:pt x="2755328" y="44150"/>
                  <a:pt x="2598570" y="34692"/>
                  <a:pt x="2448763" y="18288"/>
                </a:cubicBezTo>
                <a:cubicBezTo>
                  <a:pt x="2298956" y="1884"/>
                  <a:pt x="2011344" y="-7043"/>
                  <a:pt x="1854403" y="18288"/>
                </a:cubicBezTo>
                <a:cubicBezTo>
                  <a:pt x="1697462" y="43619"/>
                  <a:pt x="1444994" y="618"/>
                  <a:pt x="1295705" y="18288"/>
                </a:cubicBezTo>
                <a:cubicBezTo>
                  <a:pt x="1146416" y="35958"/>
                  <a:pt x="965401" y="42167"/>
                  <a:pt x="772668" y="18288"/>
                </a:cubicBezTo>
                <a:cubicBezTo>
                  <a:pt x="579935" y="-5591"/>
                  <a:pt x="352420" y="-19381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566160" h="18288" stroke="0" extrusionOk="0">
                <a:moveTo>
                  <a:pt x="0" y="0"/>
                </a:moveTo>
                <a:cubicBezTo>
                  <a:pt x="169947" y="-5008"/>
                  <a:pt x="340602" y="-17518"/>
                  <a:pt x="594360" y="0"/>
                </a:cubicBezTo>
                <a:cubicBezTo>
                  <a:pt x="848118" y="17518"/>
                  <a:pt x="997921" y="8866"/>
                  <a:pt x="1224382" y="0"/>
                </a:cubicBezTo>
                <a:cubicBezTo>
                  <a:pt x="1450843" y="-8866"/>
                  <a:pt x="1572343" y="8392"/>
                  <a:pt x="1783080" y="0"/>
                </a:cubicBezTo>
                <a:cubicBezTo>
                  <a:pt x="1993817" y="-8392"/>
                  <a:pt x="2266728" y="2126"/>
                  <a:pt x="2448763" y="0"/>
                </a:cubicBezTo>
                <a:cubicBezTo>
                  <a:pt x="2630798" y="-2126"/>
                  <a:pt x="2815508" y="-13843"/>
                  <a:pt x="3043123" y="0"/>
                </a:cubicBezTo>
                <a:cubicBezTo>
                  <a:pt x="3270738" y="13843"/>
                  <a:pt x="3420568" y="2184"/>
                  <a:pt x="3566160" y="0"/>
                </a:cubicBezTo>
                <a:cubicBezTo>
                  <a:pt x="3566487" y="8595"/>
                  <a:pt x="3566088" y="13110"/>
                  <a:pt x="3566160" y="18288"/>
                </a:cubicBezTo>
                <a:cubicBezTo>
                  <a:pt x="3421748" y="9323"/>
                  <a:pt x="3176383" y="-3939"/>
                  <a:pt x="2971800" y="18288"/>
                </a:cubicBezTo>
                <a:cubicBezTo>
                  <a:pt x="2767217" y="40515"/>
                  <a:pt x="2590769" y="4336"/>
                  <a:pt x="2306117" y="18288"/>
                </a:cubicBezTo>
                <a:cubicBezTo>
                  <a:pt x="2021465" y="32240"/>
                  <a:pt x="1860727" y="-9280"/>
                  <a:pt x="1676095" y="18288"/>
                </a:cubicBezTo>
                <a:cubicBezTo>
                  <a:pt x="1491463" y="45856"/>
                  <a:pt x="1329173" y="5765"/>
                  <a:pt x="1153058" y="18288"/>
                </a:cubicBezTo>
                <a:cubicBezTo>
                  <a:pt x="976943" y="30811"/>
                  <a:pt x="895178" y="4751"/>
                  <a:pt x="665683" y="18288"/>
                </a:cubicBezTo>
                <a:cubicBezTo>
                  <a:pt x="436189" y="31825"/>
                  <a:pt x="302924" y="2002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3B480-1B3E-9AAA-567C-4A26CD44E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167"/>
            <a:ext cx="3895522" cy="3386399"/>
          </a:xfrm>
        </p:spPr>
        <p:txBody>
          <a:bodyPr>
            <a:normAutofit/>
          </a:bodyPr>
          <a:lstStyle/>
          <a:p>
            <a:r>
              <a:rPr lang="en-GB" sz="1500" b="1" dirty="0">
                <a:latin typeface="Trebuchet MS" panose="020B0603020202020204" pitchFamily="34" charset="0"/>
              </a:rPr>
              <a:t>University of Westminster</a:t>
            </a:r>
            <a:r>
              <a:rPr lang="en-GB" sz="1500" dirty="0">
                <a:latin typeface="Trebuchet MS" panose="020B0603020202020204" pitchFamily="34" charset="0"/>
              </a:rPr>
              <a:t>, BSc Economics</a:t>
            </a:r>
          </a:p>
          <a:p>
            <a:r>
              <a:rPr lang="en-GB" sz="1500" b="1" dirty="0">
                <a:latin typeface="Trebuchet MS" panose="020B0603020202020204" pitchFamily="34" charset="0"/>
              </a:rPr>
              <a:t>Programming Languages: </a:t>
            </a:r>
            <a:r>
              <a:rPr lang="en-GB" sz="1500" dirty="0">
                <a:latin typeface="Trebuchet MS" panose="020B0603020202020204" pitchFamily="34" charset="0"/>
              </a:rPr>
              <a:t>SQL, R and Python</a:t>
            </a:r>
          </a:p>
          <a:p>
            <a:r>
              <a:rPr lang="en-GB" sz="1500" b="1" dirty="0">
                <a:latin typeface="Trebuchet MS" panose="020B0603020202020204" pitchFamily="34" charset="0"/>
              </a:rPr>
              <a:t>Software: </a:t>
            </a:r>
            <a:r>
              <a:rPr lang="en-GB" sz="1500" dirty="0">
                <a:latin typeface="Trebuchet MS" panose="020B0603020202020204" pitchFamily="34" charset="0"/>
              </a:rPr>
              <a:t>Excel (Advanced), IBM SPSS, Minitab, EViews, Bloomberg Terminal</a:t>
            </a:r>
          </a:p>
          <a:p>
            <a:r>
              <a:rPr lang="en-GB" sz="1500" b="1" dirty="0">
                <a:latin typeface="Trebuchet MS" panose="020B0603020202020204" pitchFamily="34" charset="0"/>
              </a:rPr>
              <a:t>Skills: </a:t>
            </a:r>
            <a:r>
              <a:rPr lang="en-GB" sz="1500" dirty="0">
                <a:latin typeface="Trebuchet MS" panose="020B0603020202020204" pitchFamily="34" charset="0"/>
              </a:rPr>
              <a:t>Financial/Economic Analysis, EDA, Statistics, Regression Analysis, Machine Learning, NLP, Data Engineering, APIs, Web Apps.</a:t>
            </a:r>
          </a:p>
          <a:p>
            <a:r>
              <a:rPr lang="en-GB" sz="1500" b="1" dirty="0">
                <a:latin typeface="Trebuchet MS" panose="020B0603020202020204" pitchFamily="34" charset="0"/>
              </a:rPr>
              <a:t>Soft Skills: </a:t>
            </a:r>
            <a:r>
              <a:rPr lang="en-GB" sz="1500" dirty="0">
                <a:latin typeface="Trebuchet MS" panose="020B0603020202020204" pitchFamily="34" charset="0"/>
              </a:rPr>
              <a:t>Teamwork, Collaboration, Problem Solving, Attention to Detail, Data Storytelling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6885DD5-2C8D-7DC5-3AF1-9BD32B81A9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2166" y="1958414"/>
            <a:ext cx="2103378" cy="210337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BF1BCFAE-C8C0-483F-3869-9FDD299474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814" y="349703"/>
            <a:ext cx="4465955" cy="1082993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A8DAAFFE-4FFD-BFC0-DF33-2A52F0FB3E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6203" y="4194509"/>
            <a:ext cx="2103378" cy="2103378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D8171A2A-F4E0-8B94-6D10-1B73B0AD4D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96203" y="1782399"/>
            <a:ext cx="2103378" cy="21033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9995D1-6149-81FD-E22E-626BCE08F1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166" y="4194509"/>
            <a:ext cx="2103378" cy="210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586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94BFCCA4-109C-4B21-816E-144FE75C3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BCD4C6-5AFB-BDB7-E1D8-E407E75DF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18" y="643465"/>
            <a:ext cx="3895359" cy="1846615"/>
          </a:xfrm>
        </p:spPr>
        <p:txBody>
          <a:bodyPr anchor="b">
            <a:normAutofit/>
          </a:bodyPr>
          <a:lstStyle/>
          <a:p>
            <a:r>
              <a:rPr lang="en-GB" sz="5400" dirty="0">
                <a:latin typeface="Trebuchet MS" panose="020B0603020202020204" pitchFamily="34" charset="0"/>
              </a:rPr>
              <a:t>My Experiences</a:t>
            </a:r>
          </a:p>
        </p:txBody>
      </p:sp>
      <p:sp>
        <p:nvSpPr>
          <p:cNvPr id="71" name="sketch line">
            <a:extLst>
              <a:ext uri="{FF2B5EF4-FFF2-40B4-BE49-F238E27FC236}">
                <a16:creationId xmlns:a16="http://schemas.microsoft.com/office/drawing/2014/main" id="{0059B5C0-FEC8-4370-AF45-02E3AEF6F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659144"/>
            <a:ext cx="3566160" cy="18288"/>
          </a:xfrm>
          <a:custGeom>
            <a:avLst/>
            <a:gdLst>
              <a:gd name="csX0" fmla="*/ 0 w 3566160"/>
              <a:gd name="csY0" fmla="*/ 0 h 18288"/>
              <a:gd name="csX1" fmla="*/ 665683 w 3566160"/>
              <a:gd name="csY1" fmla="*/ 0 h 18288"/>
              <a:gd name="csX2" fmla="*/ 1331366 w 3566160"/>
              <a:gd name="csY2" fmla="*/ 0 h 18288"/>
              <a:gd name="csX3" fmla="*/ 1818742 w 3566160"/>
              <a:gd name="csY3" fmla="*/ 0 h 18288"/>
              <a:gd name="csX4" fmla="*/ 2413102 w 3566160"/>
              <a:gd name="csY4" fmla="*/ 0 h 18288"/>
              <a:gd name="csX5" fmla="*/ 2936138 w 3566160"/>
              <a:gd name="csY5" fmla="*/ 0 h 18288"/>
              <a:gd name="csX6" fmla="*/ 3566160 w 3566160"/>
              <a:gd name="csY6" fmla="*/ 0 h 18288"/>
              <a:gd name="csX7" fmla="*/ 3566160 w 3566160"/>
              <a:gd name="csY7" fmla="*/ 18288 h 18288"/>
              <a:gd name="csX8" fmla="*/ 2971800 w 3566160"/>
              <a:gd name="csY8" fmla="*/ 18288 h 18288"/>
              <a:gd name="csX9" fmla="*/ 2448763 w 3566160"/>
              <a:gd name="csY9" fmla="*/ 18288 h 18288"/>
              <a:gd name="csX10" fmla="*/ 1854403 w 3566160"/>
              <a:gd name="csY10" fmla="*/ 18288 h 18288"/>
              <a:gd name="csX11" fmla="*/ 1295705 w 3566160"/>
              <a:gd name="csY11" fmla="*/ 18288 h 18288"/>
              <a:gd name="csX12" fmla="*/ 772668 w 3566160"/>
              <a:gd name="csY12" fmla="*/ 18288 h 18288"/>
              <a:gd name="csX13" fmla="*/ 0 w 3566160"/>
              <a:gd name="csY13" fmla="*/ 18288 h 18288"/>
              <a:gd name="csX14" fmla="*/ 0 w 3566160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566160" h="18288" fill="none" extrusionOk="0">
                <a:moveTo>
                  <a:pt x="0" y="0"/>
                </a:moveTo>
                <a:cubicBezTo>
                  <a:pt x="222644" y="15773"/>
                  <a:pt x="447078" y="-30288"/>
                  <a:pt x="665683" y="0"/>
                </a:cubicBezTo>
                <a:cubicBezTo>
                  <a:pt x="884288" y="30288"/>
                  <a:pt x="1132425" y="-6167"/>
                  <a:pt x="1331366" y="0"/>
                </a:cubicBezTo>
                <a:cubicBezTo>
                  <a:pt x="1530307" y="6167"/>
                  <a:pt x="1680942" y="17562"/>
                  <a:pt x="1818742" y="0"/>
                </a:cubicBezTo>
                <a:cubicBezTo>
                  <a:pt x="1956542" y="-17562"/>
                  <a:pt x="2130227" y="23032"/>
                  <a:pt x="2413102" y="0"/>
                </a:cubicBezTo>
                <a:cubicBezTo>
                  <a:pt x="2695977" y="-23032"/>
                  <a:pt x="2679988" y="-13260"/>
                  <a:pt x="2936138" y="0"/>
                </a:cubicBezTo>
                <a:cubicBezTo>
                  <a:pt x="3192288" y="13260"/>
                  <a:pt x="3378668" y="16268"/>
                  <a:pt x="3566160" y="0"/>
                </a:cubicBezTo>
                <a:cubicBezTo>
                  <a:pt x="3566199" y="7328"/>
                  <a:pt x="3566779" y="9982"/>
                  <a:pt x="3566160" y="18288"/>
                </a:cubicBezTo>
                <a:cubicBezTo>
                  <a:pt x="3315478" y="45899"/>
                  <a:pt x="3188272" y="-7574"/>
                  <a:pt x="2971800" y="18288"/>
                </a:cubicBezTo>
                <a:cubicBezTo>
                  <a:pt x="2755328" y="44150"/>
                  <a:pt x="2598570" y="34692"/>
                  <a:pt x="2448763" y="18288"/>
                </a:cubicBezTo>
                <a:cubicBezTo>
                  <a:pt x="2298956" y="1884"/>
                  <a:pt x="2011344" y="-7043"/>
                  <a:pt x="1854403" y="18288"/>
                </a:cubicBezTo>
                <a:cubicBezTo>
                  <a:pt x="1697462" y="43619"/>
                  <a:pt x="1444994" y="618"/>
                  <a:pt x="1295705" y="18288"/>
                </a:cubicBezTo>
                <a:cubicBezTo>
                  <a:pt x="1146416" y="35958"/>
                  <a:pt x="965401" y="42167"/>
                  <a:pt x="772668" y="18288"/>
                </a:cubicBezTo>
                <a:cubicBezTo>
                  <a:pt x="579935" y="-5591"/>
                  <a:pt x="352420" y="-19381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566160" h="18288" stroke="0" extrusionOk="0">
                <a:moveTo>
                  <a:pt x="0" y="0"/>
                </a:moveTo>
                <a:cubicBezTo>
                  <a:pt x="169947" y="-5008"/>
                  <a:pt x="340602" y="-17518"/>
                  <a:pt x="594360" y="0"/>
                </a:cubicBezTo>
                <a:cubicBezTo>
                  <a:pt x="848118" y="17518"/>
                  <a:pt x="997921" y="8866"/>
                  <a:pt x="1224382" y="0"/>
                </a:cubicBezTo>
                <a:cubicBezTo>
                  <a:pt x="1450843" y="-8866"/>
                  <a:pt x="1572343" y="8392"/>
                  <a:pt x="1783080" y="0"/>
                </a:cubicBezTo>
                <a:cubicBezTo>
                  <a:pt x="1993817" y="-8392"/>
                  <a:pt x="2266728" y="2126"/>
                  <a:pt x="2448763" y="0"/>
                </a:cubicBezTo>
                <a:cubicBezTo>
                  <a:pt x="2630798" y="-2126"/>
                  <a:pt x="2815508" y="-13843"/>
                  <a:pt x="3043123" y="0"/>
                </a:cubicBezTo>
                <a:cubicBezTo>
                  <a:pt x="3270738" y="13843"/>
                  <a:pt x="3420568" y="2184"/>
                  <a:pt x="3566160" y="0"/>
                </a:cubicBezTo>
                <a:cubicBezTo>
                  <a:pt x="3566487" y="8595"/>
                  <a:pt x="3566088" y="13110"/>
                  <a:pt x="3566160" y="18288"/>
                </a:cubicBezTo>
                <a:cubicBezTo>
                  <a:pt x="3421748" y="9323"/>
                  <a:pt x="3176383" y="-3939"/>
                  <a:pt x="2971800" y="18288"/>
                </a:cubicBezTo>
                <a:cubicBezTo>
                  <a:pt x="2767217" y="40515"/>
                  <a:pt x="2590769" y="4336"/>
                  <a:pt x="2306117" y="18288"/>
                </a:cubicBezTo>
                <a:cubicBezTo>
                  <a:pt x="2021465" y="32240"/>
                  <a:pt x="1860727" y="-9280"/>
                  <a:pt x="1676095" y="18288"/>
                </a:cubicBezTo>
                <a:cubicBezTo>
                  <a:pt x="1491463" y="45856"/>
                  <a:pt x="1329173" y="5765"/>
                  <a:pt x="1153058" y="18288"/>
                </a:cubicBezTo>
                <a:cubicBezTo>
                  <a:pt x="976943" y="30811"/>
                  <a:pt x="895178" y="4751"/>
                  <a:pt x="665683" y="18288"/>
                </a:cubicBezTo>
                <a:cubicBezTo>
                  <a:pt x="436189" y="31825"/>
                  <a:pt x="302924" y="2002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C2CE0-69C2-A050-E881-1F017F758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167"/>
            <a:ext cx="3895522" cy="3386399"/>
          </a:xfrm>
        </p:spPr>
        <p:txBody>
          <a:bodyPr>
            <a:normAutofit/>
          </a:bodyPr>
          <a:lstStyle/>
          <a:p>
            <a:r>
              <a:rPr lang="en-GB" sz="2200" dirty="0">
                <a:latin typeface="Trebuchet MS" panose="020B0603020202020204" pitchFamily="34" charset="0"/>
              </a:rPr>
              <a:t>University: Policy Analysis, Regulatory Economics(Ofgem), Strategy Review (Sony), Malware Detection (Google Workspace).</a:t>
            </a:r>
          </a:p>
          <a:p>
            <a:r>
              <a:rPr lang="en-GB" sz="2200" dirty="0">
                <a:latin typeface="Trebuchet MS" panose="020B0603020202020204" pitchFamily="34" charset="0"/>
              </a:rPr>
              <a:t>Independent: EDA, Machine Learning (TikTok, Waze, etc), NLP, Web Scrapping, Web Applications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8F25687-BD03-57F2-73AB-58DDDBDE8D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524" y="164592"/>
            <a:ext cx="2696016" cy="3456432"/>
          </a:xfrm>
          <a:prstGeom prst="rect">
            <a:avLst/>
          </a:prstGeom>
        </p:spPr>
      </p:pic>
      <p:pic>
        <p:nvPicPr>
          <p:cNvPr id="13" name="Picture 12" descr="Ofgem - Wikipedia">
            <a:extLst>
              <a:ext uri="{FF2B5EF4-FFF2-40B4-BE49-F238E27FC236}">
                <a16:creationId xmlns:a16="http://schemas.microsoft.com/office/drawing/2014/main" id="{AAC92658-F151-89D1-091F-68F6CB718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761881"/>
            <a:ext cx="3785616" cy="1447997"/>
          </a:xfrm>
          <a:prstGeom prst="rect">
            <a:avLst/>
          </a:prstGeom>
        </p:spPr>
      </p:pic>
      <p:pic>
        <p:nvPicPr>
          <p:cNvPr id="12" name="Picture 11" descr="Google Workspace - Review 2025 - PCMag UK">
            <a:extLst>
              <a:ext uri="{FF2B5EF4-FFF2-40B4-BE49-F238E27FC236}">
                <a16:creationId xmlns:a16="http://schemas.microsoft.com/office/drawing/2014/main" id="{7B53C629-DDA0-0EE3-6474-95D1F798EB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4122721"/>
            <a:ext cx="3099816" cy="1743646"/>
          </a:xfrm>
          <a:prstGeom prst="rect">
            <a:avLst/>
          </a:prstGeom>
        </p:spPr>
      </p:pic>
      <p:pic>
        <p:nvPicPr>
          <p:cNvPr id="29" name="Picture 28" descr="TikTok - Make Your Day">
            <a:extLst>
              <a:ext uri="{FF2B5EF4-FFF2-40B4-BE49-F238E27FC236}">
                <a16:creationId xmlns:a16="http://schemas.microsoft.com/office/drawing/2014/main" id="{AFEDBDAF-C89C-40CF-EEC4-8987E8D10E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9792" y="2971759"/>
            <a:ext cx="3221807" cy="322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141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6BBD0E-BB96-8E25-9638-6F98FFE62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Trebuchet MS" panose="020B0603020202020204" pitchFamily="34" charset="0"/>
              </a:rPr>
              <a:t>Why Grayce?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3BD5EF-4F3D-1A5E-2A4B-1C814398B7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2582751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55927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278F5D-6CBF-F77B-B45B-D86E03BBA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GB" sz="5400" dirty="0">
                <a:latin typeface="Trebuchet MS" panose="020B0603020202020204" pitchFamily="34" charset="0"/>
              </a:rPr>
              <a:t>Data Skills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D4649A-EE9F-DD4D-419C-C11C0D476D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2295724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58961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6400F-149B-80C6-1EEC-62C7DBCFA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GB" sz="5400" dirty="0">
                <a:latin typeface="Trebuchet MS" panose="020B0603020202020204" pitchFamily="34" charset="0"/>
              </a:rPr>
              <a:t>NVIDIA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E3BF0-7ED6-22E8-CBCF-93D9C6018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 lnSpcReduction="10000"/>
          </a:bodyPr>
          <a:lstStyle/>
          <a:p>
            <a:r>
              <a:rPr lang="en-GB" sz="2400" dirty="0">
                <a:latin typeface="Trebuchet MS" panose="020B0603020202020204" pitchFamily="34" charset="0"/>
              </a:rPr>
              <a:t>Founded on April 5, 1993, by Jensen Huang, Chris Malachowsky and Curtis Priem.</a:t>
            </a:r>
          </a:p>
          <a:p>
            <a:r>
              <a:rPr lang="en-GB" sz="2400" dirty="0">
                <a:latin typeface="Trebuchet MS" panose="020B0603020202020204" pitchFamily="34" charset="0"/>
              </a:rPr>
              <a:t>Focused on Graphic Processing Units (GPUs) for video games and workstations applications.</a:t>
            </a:r>
          </a:p>
          <a:p>
            <a:r>
              <a:rPr lang="en-GB" sz="2400" dirty="0">
                <a:latin typeface="Trebuchet MS" panose="020B0603020202020204" pitchFamily="34" charset="0"/>
              </a:rPr>
              <a:t>Adapted GPUs potential to other emerging markets such as AI and Supercomputing.</a:t>
            </a:r>
          </a:p>
          <a:p>
            <a:r>
              <a:rPr lang="en-GB" sz="2400" dirty="0">
                <a:latin typeface="Trebuchet MS" panose="020B0603020202020204" pitchFamily="34" charset="0"/>
              </a:rPr>
              <a:t>They now develop hardware and software for accelerated computing.</a:t>
            </a:r>
          </a:p>
          <a:p>
            <a:r>
              <a:rPr lang="en-GB" sz="2400" dirty="0">
                <a:latin typeface="Trebuchet MS" panose="020B0603020202020204" pitchFamily="34" charset="0"/>
              </a:rPr>
              <a:t>They are the 7</a:t>
            </a:r>
            <a:r>
              <a:rPr lang="en-GB" sz="2400" baseline="30000" dirty="0">
                <a:latin typeface="Trebuchet MS" panose="020B0603020202020204" pitchFamily="34" charset="0"/>
              </a:rPr>
              <a:t>th</a:t>
            </a:r>
            <a:r>
              <a:rPr lang="en-GB" sz="2400" dirty="0">
                <a:latin typeface="Trebuchet MS" panose="020B0603020202020204" pitchFamily="34" charset="0"/>
              </a:rPr>
              <a:t> US company to reach $1 Trillion valuation. (</a:t>
            </a:r>
            <a:r>
              <a:rPr lang="en-GB" sz="2400" i="1" dirty="0">
                <a:latin typeface="Trebuchet MS" panose="020B0603020202020204" pitchFamily="34" charset="0"/>
                <a:hlinkClick r:id="rId2"/>
              </a:rPr>
              <a:t>Yahoo Finance, 2023</a:t>
            </a:r>
            <a:r>
              <a:rPr lang="en-GB" sz="2400" dirty="0">
                <a:latin typeface="Trebuchet MS" panose="020B0603020202020204" pitchFamily="34" charset="0"/>
              </a:rPr>
              <a:t>)</a:t>
            </a:r>
          </a:p>
          <a:p>
            <a:r>
              <a:rPr lang="en-GB" sz="2400" dirty="0">
                <a:latin typeface="Trebuchet MS" panose="020B0603020202020204" pitchFamily="34" charset="0"/>
              </a:rPr>
              <a:t>First company to go past $4 Trillion valuation. (</a:t>
            </a:r>
            <a:r>
              <a:rPr lang="en-GB" sz="2400" i="1" dirty="0">
                <a:latin typeface="Trebuchet MS" panose="020B0603020202020204" pitchFamily="34" charset="0"/>
                <a:hlinkClick r:id="rId3"/>
              </a:rPr>
              <a:t>Forbes, 2024</a:t>
            </a:r>
            <a:r>
              <a:rPr lang="en-GB" sz="2400" dirty="0">
                <a:latin typeface="Trebuchet MS" panose="020B0603020202020204" pitchFamily="34" charset="0"/>
              </a:rPr>
              <a:t>)</a:t>
            </a:r>
          </a:p>
        </p:txBody>
      </p:sp>
      <p:pic>
        <p:nvPicPr>
          <p:cNvPr id="5" name="Picture 4" descr="show">
            <a:extLst>
              <a:ext uri="{FF2B5EF4-FFF2-40B4-BE49-F238E27FC236}">
                <a16:creationId xmlns:a16="http://schemas.microsoft.com/office/drawing/2014/main" id="{34469B0B-9748-D222-8F2F-D8E50ED3AB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42" y="654783"/>
            <a:ext cx="4066866" cy="745592"/>
          </a:xfrm>
          <a:prstGeom prst="rect">
            <a:avLst/>
          </a:prstGeom>
        </p:spPr>
      </p:pic>
      <p:pic>
        <p:nvPicPr>
          <p:cNvPr id="7" name="Picture 6" descr="CUDA - Wikipedia">
            <a:extLst>
              <a:ext uri="{FF2B5EF4-FFF2-40B4-BE49-F238E27FC236}">
                <a16:creationId xmlns:a16="http://schemas.microsoft.com/office/drawing/2014/main" id="{7B3F2E9C-75B7-242E-FBB8-EF9A98DDE7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241" y="4219458"/>
            <a:ext cx="3811377" cy="230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613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56CC65-4813-FDFB-51E1-1411CFCAB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Trebuchet MS" panose="020B0603020202020204" pitchFamily="34" charset="0"/>
              </a:rPr>
              <a:t>How they became successful?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5EC87-1D96-075E-E0D6-587A81348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600" dirty="0">
                <a:latin typeface="Trebuchet MS" panose="020B0603020202020204" pitchFamily="34" charset="0"/>
              </a:rPr>
              <a:t>NVIDIA didn’t limit their horizons to gaming, they realised and adapted their technology for the future of computing e.g. crypto mining and AI.</a:t>
            </a:r>
          </a:p>
          <a:p>
            <a:r>
              <a:rPr lang="en-GB" sz="2600" dirty="0">
                <a:latin typeface="Trebuchet MS" panose="020B0603020202020204" pitchFamily="34" charset="0"/>
              </a:rPr>
              <a:t>Invested early into AI and Accelerated computing before demand rose, e.g. CUDA.</a:t>
            </a:r>
          </a:p>
          <a:p>
            <a:r>
              <a:rPr lang="en-GB" sz="2600" dirty="0">
                <a:latin typeface="Trebuchet MS" panose="020B0603020202020204" pitchFamily="34" charset="0"/>
              </a:rPr>
              <a:t>Transformed their business model from selling components to full AI infrastructure and services.</a:t>
            </a:r>
          </a:p>
          <a:p>
            <a:r>
              <a:rPr lang="en-GB" sz="2600" dirty="0">
                <a:latin typeface="Trebuchet MS" panose="020B0603020202020204" pitchFamily="34" charset="0"/>
              </a:rPr>
              <a:t>NVIDIA story highlights the value of innovation, thinking ahead and adapting early.</a:t>
            </a:r>
          </a:p>
          <a:p>
            <a:r>
              <a:rPr lang="en-GB" sz="2600" dirty="0">
                <a:latin typeface="Trebuchet MS" panose="020B0603020202020204" pitchFamily="34" charset="0"/>
              </a:rPr>
              <a:t>But there is one more factor … the AI Boom.</a:t>
            </a:r>
          </a:p>
        </p:txBody>
      </p:sp>
    </p:spTree>
    <p:extLst>
      <p:ext uri="{BB962C8B-B14F-4D97-AF65-F5344CB8AC3E}">
        <p14:creationId xmlns:p14="http://schemas.microsoft.com/office/powerpoint/2010/main" val="2128208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AF3A99-5BB9-42EF-8AED-BD9BCB86A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Trebuchet MS" panose="020B0603020202020204" pitchFamily="34" charset="0"/>
              </a:rPr>
              <a:t>The AI Boom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1A13F-4738-BE47-8D72-0CC075CB3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Autofit/>
          </a:bodyPr>
          <a:lstStyle/>
          <a:p>
            <a:r>
              <a:rPr lang="en-GB" sz="2200" dirty="0">
                <a:latin typeface="Trebuchet MS" panose="020B0603020202020204" pitchFamily="34" charset="0"/>
              </a:rPr>
              <a:t>The AI Boom in the early 2020’s, led to a significant increase in the demand for AI data centres and its hardware.</a:t>
            </a:r>
          </a:p>
          <a:p>
            <a:r>
              <a:rPr lang="en-GB" sz="2200" dirty="0">
                <a:latin typeface="Trebuchet MS" panose="020B0603020202020204" pitchFamily="34" charset="0"/>
              </a:rPr>
              <a:t>AI models need fast GPUs because they process huge calculations in parallel, making training and inference faster and more efficient.</a:t>
            </a:r>
          </a:p>
          <a:p>
            <a:r>
              <a:rPr lang="en-GB" sz="2200" dirty="0">
                <a:latin typeface="Trebuchet MS" panose="020B0603020202020204" pitchFamily="34" charset="0"/>
              </a:rPr>
              <a:t>NVIDIA had already developed Deep GPU Xceleration (DGX) supercomputers in 2016. (</a:t>
            </a:r>
            <a:r>
              <a:rPr lang="en-GB" sz="2200" i="1" dirty="0">
                <a:latin typeface="Trebuchet MS" panose="020B0603020202020204" pitchFamily="34" charset="0"/>
                <a:hlinkClick r:id="rId2"/>
              </a:rPr>
              <a:t>TechCrunch, 2016</a:t>
            </a:r>
            <a:r>
              <a:rPr lang="en-GB" sz="2200" dirty="0">
                <a:latin typeface="Trebuchet MS" panose="020B0603020202020204" pitchFamily="34" charset="0"/>
              </a:rPr>
              <a:t>)</a:t>
            </a:r>
          </a:p>
          <a:p>
            <a:r>
              <a:rPr lang="en-GB" sz="2200" dirty="0">
                <a:latin typeface="Trebuchet MS" panose="020B0603020202020204" pitchFamily="34" charset="0"/>
              </a:rPr>
              <a:t>These are used for high-performance AI computing platforms to be used in data centres to train and deploy advanced AI models.</a:t>
            </a:r>
          </a:p>
          <a:p>
            <a:r>
              <a:rPr lang="en-GB" sz="2200" dirty="0">
                <a:latin typeface="Trebuchet MS" panose="020B0603020202020204" pitchFamily="34" charset="0"/>
              </a:rPr>
              <a:t>This demand for AI data centres hardware led to NVIDIA becoming the first company in the world to reach $5 Trillion valuation.</a:t>
            </a:r>
          </a:p>
          <a:p>
            <a:r>
              <a:rPr lang="en-GB" sz="2200" dirty="0">
                <a:latin typeface="Trebuchet MS" panose="020B0603020202020204" pitchFamily="34" charset="0"/>
              </a:rPr>
              <a:t>As of 2027 Q1 Fiscal Year, NVIDIA recorded a revenue of $81.6 Billion, with $75.2 Billion coming from data centre revenue. (</a:t>
            </a:r>
            <a:r>
              <a:rPr lang="en-GB" sz="2200" i="1" dirty="0">
                <a:latin typeface="Trebuchet MS" panose="020B0603020202020204" pitchFamily="34" charset="0"/>
                <a:hlinkClick r:id="rId3"/>
              </a:rPr>
              <a:t>NVIDIA, 2026</a:t>
            </a:r>
            <a:r>
              <a:rPr lang="en-GB" sz="2200" dirty="0">
                <a:latin typeface="Trebuchet MS" panose="020B0603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52119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3F7577-358D-806E-2C9F-496326FA6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NVIDIA Revenue</a:t>
            </a:r>
          </a:p>
        </p:txBody>
      </p:sp>
      <p:sp>
        <p:nvSpPr>
          <p:cNvPr id="60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9" name="Chart 48">
            <a:extLst>
              <a:ext uri="{FF2B5EF4-FFF2-40B4-BE49-F238E27FC236}">
                <a16:creationId xmlns:a16="http://schemas.microsoft.com/office/drawing/2014/main" id="{36F10B32-02FC-8A99-3C0B-061A072E09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0743567"/>
              </p:ext>
            </p:extLst>
          </p:nvPr>
        </p:nvGraphicFramePr>
        <p:xfrm>
          <a:off x="4654296" y="640080"/>
          <a:ext cx="7214616" cy="5550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83446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CC5AAB-040A-5680-DC73-E9BCB213D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119703"/>
            <a:ext cx="4818888" cy="2001705"/>
          </a:xfrm>
        </p:spPr>
        <p:txBody>
          <a:bodyPr anchor="b">
            <a:noAutofit/>
          </a:bodyPr>
          <a:lstStyle/>
          <a:p>
            <a:r>
              <a:rPr lang="en-GB" dirty="0">
                <a:latin typeface="Trebuchet MS" panose="020B0603020202020204" pitchFamily="34" charset="0"/>
              </a:rPr>
              <a:t>NVIDIA Currently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F369AF-19CF-67FC-80A7-2FDA9553F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 fontScale="85000" lnSpcReduction="20000"/>
          </a:bodyPr>
          <a:lstStyle/>
          <a:p>
            <a:r>
              <a:rPr lang="en-GB" sz="2400" dirty="0">
                <a:latin typeface="Trebuchet MS" panose="020B0603020202020204" pitchFamily="34" charset="0"/>
              </a:rPr>
              <a:t>On 1</a:t>
            </a:r>
            <a:r>
              <a:rPr lang="en-GB" sz="2400" baseline="30000" dirty="0">
                <a:latin typeface="Trebuchet MS" panose="020B0603020202020204" pitchFamily="34" charset="0"/>
              </a:rPr>
              <a:t>st</a:t>
            </a:r>
            <a:r>
              <a:rPr lang="en-GB" sz="2400" dirty="0">
                <a:latin typeface="Trebuchet MS" panose="020B0603020202020204" pitchFamily="34" charset="0"/>
              </a:rPr>
              <a:t> June 2026, at their GPU Technology Conference (GTC), unveiled their new superchip the RTX Spark. (</a:t>
            </a:r>
            <a:r>
              <a:rPr lang="en-GB" sz="2400" i="1" dirty="0">
                <a:latin typeface="Trebuchet MS" panose="020B0603020202020204" pitchFamily="34" charset="0"/>
                <a:hlinkClick r:id="rId2"/>
              </a:rPr>
              <a:t>Yahoo Finance, 2026</a:t>
            </a:r>
            <a:r>
              <a:rPr lang="en-GB" sz="2400" dirty="0">
                <a:latin typeface="Trebuchet MS" panose="020B0603020202020204" pitchFamily="34" charset="0"/>
              </a:rPr>
              <a:t>)</a:t>
            </a:r>
          </a:p>
          <a:p>
            <a:r>
              <a:rPr lang="en-GB" sz="2400" dirty="0">
                <a:latin typeface="Trebuchet MS" panose="020B0603020202020204" pitchFamily="34" charset="0"/>
              </a:rPr>
              <a:t>Marks NVIDIA’s move into the PC processor market, expanding beyond GPUs and data centres.</a:t>
            </a:r>
          </a:p>
          <a:p>
            <a:r>
              <a:rPr lang="en-GB" sz="2400" dirty="0">
                <a:latin typeface="Trebuchet MS" panose="020B0603020202020204" pitchFamily="34" charset="0"/>
              </a:rPr>
              <a:t>RTX Spark will power AI PCs from Dell, Lenovo, Asus and more.</a:t>
            </a:r>
          </a:p>
          <a:p>
            <a:r>
              <a:rPr lang="en-GB" sz="2400" dirty="0">
                <a:latin typeface="Trebuchet MS" panose="020B0603020202020204" pitchFamily="34" charset="0"/>
              </a:rPr>
              <a:t>Designed to bring high-performance AI computing into compact devices.</a:t>
            </a:r>
          </a:p>
          <a:p>
            <a:r>
              <a:rPr lang="en-GB" sz="2400" dirty="0">
                <a:latin typeface="Trebuchet MS" panose="020B0603020202020204" pitchFamily="34" charset="0"/>
              </a:rPr>
              <a:t>NVIDIA’s share price increased by 6.3% in a day.</a:t>
            </a:r>
          </a:p>
        </p:txBody>
      </p:sp>
      <p:pic>
        <p:nvPicPr>
          <p:cNvPr id="6" name="Picture 5" descr="NVIDIA announced RTX Spark chip for Windows on ARM with RTX Gaming support  - VideoCardz.com">
            <a:extLst>
              <a:ext uri="{FF2B5EF4-FFF2-40B4-BE49-F238E27FC236}">
                <a16:creationId xmlns:a16="http://schemas.microsoft.com/office/drawing/2014/main" id="{3F71DCF0-AB49-0C32-46C9-B52403DD19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131"/>
          <a:stretch>
            <a:fillRect/>
          </a:stretch>
        </p:blipFill>
        <p:spPr>
          <a:xfrm>
            <a:off x="6099048" y="1123879"/>
            <a:ext cx="5458968" cy="461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683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DCBA38-A442-76B9-6112-BAA158A45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 dirty="0">
                <a:latin typeface="Trebuchet MS" panose="020B0603020202020204" pitchFamily="34" charset="0"/>
              </a:rPr>
              <a:t>NVIDIA Share Price</a:t>
            </a:r>
          </a:p>
        </p:txBody>
      </p:sp>
      <p:sp>
        <p:nvSpPr>
          <p:cNvPr id="57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Content Placeholder 44">
            <a:extLst>
              <a:ext uri="{FF2B5EF4-FFF2-40B4-BE49-F238E27FC236}">
                <a16:creationId xmlns:a16="http://schemas.microsoft.com/office/drawing/2014/main" id="{0385DCA1-8487-CF80-1724-ADBFE9F94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200" dirty="0">
                <a:latin typeface="Trebuchet MS" panose="020B0603020202020204" pitchFamily="34" charset="0"/>
              </a:rPr>
              <a:t>In response to this, Intel’s share price fell by 4.7% in the same day.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E3FD5E-DE07-8559-D73A-57B9637AC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00" y="2391916"/>
            <a:ext cx="10022400" cy="396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015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DA62DC-59E9-8073-76DB-59F9D29D9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 dirty="0">
                <a:latin typeface="Trebuchet MS" panose="020B0603020202020204" pitchFamily="34" charset="0"/>
              </a:rPr>
              <a:t>Intel Share Price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1F2B26F-9B9A-758B-9C17-E7B8A2454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dirty="0">
                <a:latin typeface="Trebuchet MS" panose="020B0603020202020204" pitchFamily="34" charset="0"/>
              </a:rPr>
              <a:t>This brings us onto our next case study about a company that failed to adapt, Intel.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AA5C8B-DB4F-0BFF-09A3-0D7AD975B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66" y="2290936"/>
            <a:ext cx="10023676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035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FC0D62-4270-0D4F-3D89-27D6FBB59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>
                <a:latin typeface="Trebuchet MS" panose="020B0603020202020204" pitchFamily="34" charset="0"/>
              </a:rPr>
              <a:t>Intel</a:t>
            </a:r>
            <a:endParaRPr lang="en-GB" sz="5400" dirty="0">
              <a:latin typeface="Trebuchet MS" panose="020B0603020202020204" pitchFamily="34" charset="0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055A6-F831-C304-C718-B3FBAA0C2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600" dirty="0">
                <a:latin typeface="Trebuchet MS" panose="020B0603020202020204" pitchFamily="34" charset="0"/>
              </a:rPr>
              <a:t>Founded on 18</a:t>
            </a:r>
            <a:r>
              <a:rPr lang="en-GB" sz="2600" baseline="30000" dirty="0">
                <a:latin typeface="Trebuchet MS" panose="020B0603020202020204" pitchFamily="34" charset="0"/>
              </a:rPr>
              <a:t>th</a:t>
            </a:r>
            <a:r>
              <a:rPr lang="en-GB" sz="2600" dirty="0">
                <a:latin typeface="Trebuchet MS" panose="020B0603020202020204" pitchFamily="34" charset="0"/>
              </a:rPr>
              <a:t> July 1968 by Gordon Moore and Robert Noyce.</a:t>
            </a:r>
          </a:p>
          <a:p>
            <a:r>
              <a:rPr lang="en-GB" sz="2600" dirty="0">
                <a:latin typeface="Trebuchet MS" panose="020B0603020202020204" pitchFamily="34" charset="0"/>
              </a:rPr>
              <a:t>They design and manufacture Central Processing Units (CPUs) as well as chipsets, GPUs and much more.</a:t>
            </a:r>
          </a:p>
          <a:p>
            <a:r>
              <a:rPr lang="en-GB" sz="2600" dirty="0">
                <a:latin typeface="Trebuchet MS" panose="020B0603020202020204" pitchFamily="34" charset="0"/>
              </a:rPr>
              <a:t>Wintel, the partnership with Microsoft from the 1990s which made them the dominant supplier of CPUs. </a:t>
            </a:r>
          </a:p>
          <a:p>
            <a:r>
              <a:rPr lang="en-GB" sz="2600" dirty="0">
                <a:latin typeface="Trebuchet MS" panose="020B0603020202020204" pitchFamily="34" charset="0"/>
              </a:rPr>
              <a:t>Intel supplies the microprocessors for most computer systems manufacturers, with 90% of Office PCs using these at one time.</a:t>
            </a:r>
          </a:p>
          <a:p>
            <a:r>
              <a:rPr lang="en-GB" sz="2600" dirty="0">
                <a:latin typeface="Trebuchet MS" panose="020B0603020202020204" pitchFamily="34" charset="0"/>
              </a:rPr>
              <a:t>One of the developers of the x86 architecture that is found in most PCs and currently leads the market in this.</a:t>
            </a:r>
          </a:p>
        </p:txBody>
      </p:sp>
      <p:pic>
        <p:nvPicPr>
          <p:cNvPr id="5" name="Picture 4" descr="upload.wikimedia.org/wikipedia/commons/thumb/7/7d/...">
            <a:extLst>
              <a:ext uri="{FF2B5EF4-FFF2-40B4-BE49-F238E27FC236}">
                <a16:creationId xmlns:a16="http://schemas.microsoft.com/office/drawing/2014/main" id="{E4DD97BA-FFB5-18AE-5F2D-FCC94F67E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63" y="244346"/>
            <a:ext cx="1994189" cy="1316165"/>
          </a:xfrm>
          <a:prstGeom prst="rect">
            <a:avLst/>
          </a:prstGeom>
        </p:spPr>
      </p:pic>
      <p:pic>
        <p:nvPicPr>
          <p:cNvPr id="6" name="Picture 5" descr="Intel vPro - Wikipedia">
            <a:extLst>
              <a:ext uri="{FF2B5EF4-FFF2-40B4-BE49-F238E27FC236}">
                <a16:creationId xmlns:a16="http://schemas.microsoft.com/office/drawing/2014/main" id="{4E8257D5-0A33-BB1D-8259-2A4263E37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9364" y="171670"/>
            <a:ext cx="1142553" cy="146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822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08C668-DA47-C470-DBE5-994EBE1D8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Trebuchet MS" panose="020B0603020202020204" pitchFamily="34" charset="0"/>
              </a:rPr>
              <a:t>Intel’s Struggle to Adapt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55B85-A399-7F7A-DCA3-43DE7D57A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GB" sz="2600" dirty="0">
                <a:latin typeface="Trebuchet MS" panose="020B0603020202020204" pitchFamily="34" charset="0"/>
              </a:rPr>
              <a:t>Intel struggled with manufacturing and execution challenges.</a:t>
            </a:r>
          </a:p>
          <a:p>
            <a:r>
              <a:rPr lang="en-GB" sz="2600" dirty="0">
                <a:latin typeface="Trebuchet MS" panose="020B0603020202020204" pitchFamily="34" charset="0"/>
              </a:rPr>
              <a:t>Risk-averse culture weakened transformation speed. (</a:t>
            </a:r>
            <a:r>
              <a:rPr lang="en-GB" sz="2600" i="1" dirty="0">
                <a:latin typeface="Trebuchet MS" panose="020B0603020202020204" pitchFamily="34" charset="0"/>
                <a:hlinkClick r:id="rId2"/>
              </a:rPr>
              <a:t>Reuters, 2024</a:t>
            </a:r>
            <a:r>
              <a:rPr lang="en-GB" sz="2600" dirty="0">
                <a:latin typeface="Trebuchet MS" panose="020B0603020202020204" pitchFamily="34" charset="0"/>
              </a:rPr>
              <a:t>)</a:t>
            </a:r>
          </a:p>
          <a:p>
            <a:r>
              <a:rPr lang="en-GB" sz="2600" dirty="0">
                <a:latin typeface="Trebuchet MS" panose="020B0603020202020204" pitchFamily="34" charset="0"/>
              </a:rPr>
              <a:t>Market share declined as AMD, NVIDIA and Apple gained ground.</a:t>
            </a:r>
          </a:p>
          <a:p>
            <a:r>
              <a:rPr lang="en-GB" sz="2600" dirty="0">
                <a:latin typeface="Trebuchet MS" panose="020B0603020202020204" pitchFamily="34" charset="0"/>
              </a:rPr>
              <a:t>Over-reliance CPUs, while demand shifted towards GPUs, specialised chips and AI Accelerators.</a:t>
            </a:r>
          </a:p>
          <a:p>
            <a:r>
              <a:rPr lang="en-GB" sz="2600" dirty="0">
                <a:latin typeface="Trebuchet MS" panose="020B0603020202020204" pitchFamily="34" charset="0"/>
              </a:rPr>
              <a:t>Slow to invest and adapt to the AI boom and utilise the potential of their technology.</a:t>
            </a:r>
          </a:p>
        </p:txBody>
      </p:sp>
    </p:spTree>
    <p:extLst>
      <p:ext uri="{BB962C8B-B14F-4D97-AF65-F5344CB8AC3E}">
        <p14:creationId xmlns:p14="http://schemas.microsoft.com/office/powerpoint/2010/main" val="2336703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E852FE-F84A-2CE3-EC1A-E8334C810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GB" sz="4200">
                <a:latin typeface="Trebuchet MS" panose="020B0603020202020204" pitchFamily="34" charset="0"/>
              </a:rPr>
              <a:t>Intel’s Performance</a:t>
            </a:r>
          </a:p>
        </p:txBody>
      </p:sp>
      <p:sp>
        <p:nvSpPr>
          <p:cNvPr id="40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EC9D5-A28C-D03A-2375-20ACF55C4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GB" sz="1700" dirty="0">
                <a:latin typeface="Trebuchet MS" panose="020B0603020202020204" pitchFamily="34" charset="0"/>
              </a:rPr>
              <a:t>Q1 2026 revenue: $13.6 Billion with $5.1 Billion from data centre revenue. (</a:t>
            </a:r>
            <a:r>
              <a:rPr lang="en-GB" sz="1700" i="1" dirty="0">
                <a:latin typeface="Trebuchet MS" panose="020B0603020202020204" pitchFamily="34" charset="0"/>
                <a:hlinkClick r:id="rId2"/>
              </a:rPr>
              <a:t>Intel, 2026</a:t>
            </a:r>
            <a:r>
              <a:rPr lang="en-GB" sz="1700" dirty="0">
                <a:latin typeface="Trebuchet MS" panose="020B0603020202020204" pitchFamily="34" charset="0"/>
              </a:rPr>
              <a:t>)</a:t>
            </a:r>
          </a:p>
          <a:p>
            <a:r>
              <a:rPr lang="en-GB" sz="1700" dirty="0">
                <a:latin typeface="Trebuchet MS" panose="020B0603020202020204" pitchFamily="34" charset="0"/>
              </a:rPr>
              <a:t>NVIDIA data centre revenue: $75.2 Billion, showing the gap in AI Infrastructure.</a:t>
            </a:r>
          </a:p>
          <a:p>
            <a:r>
              <a:rPr lang="en-GB" sz="1700" dirty="0">
                <a:latin typeface="Trebuchet MS" panose="020B0603020202020204" pitchFamily="34" charset="0"/>
              </a:rPr>
              <a:t>Intel’s market value remains low, reflecting weaker investor confidence.</a:t>
            </a:r>
          </a:p>
          <a:p>
            <a:r>
              <a:rPr lang="en-GB" sz="1700" dirty="0">
                <a:latin typeface="Trebuchet MS" panose="020B0603020202020204" pitchFamily="34" charset="0"/>
              </a:rPr>
              <a:t>Revenue fallen from 2020-2021 peak, highlighting the cost of slower adaptation.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40316C5F-1371-1E5A-F508-1AE5DDB92F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7157555"/>
              </p:ext>
            </p:extLst>
          </p:nvPr>
        </p:nvGraphicFramePr>
        <p:xfrm>
          <a:off x="4654296" y="640080"/>
          <a:ext cx="6903720" cy="5577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37793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DE2874-38D2-090A-66D5-3FA4154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Trebuchet MS" panose="020B0603020202020204" pitchFamily="34" charset="0"/>
              </a:rPr>
              <a:t>Intel and NVIDIA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DB4F5-35F2-FBC8-DB93-1AD0C45BA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600" dirty="0">
                <a:latin typeface="Trebuchet MS" panose="020B0603020202020204" pitchFamily="34" charset="0"/>
              </a:rPr>
              <a:t>On the 8</a:t>
            </a:r>
            <a:r>
              <a:rPr lang="en-GB" sz="2600" baseline="30000" dirty="0">
                <a:latin typeface="Trebuchet MS" panose="020B0603020202020204" pitchFamily="34" charset="0"/>
              </a:rPr>
              <a:t>th</a:t>
            </a:r>
            <a:r>
              <a:rPr lang="en-GB" sz="2600" dirty="0">
                <a:latin typeface="Trebuchet MS" panose="020B0603020202020204" pitchFamily="34" charset="0"/>
              </a:rPr>
              <a:t> of November 2024, Intel left the Dow Jones Industrial Average and was replaced with NVIDIA. (</a:t>
            </a:r>
            <a:r>
              <a:rPr lang="en-GB" sz="2600" i="1" dirty="0">
                <a:latin typeface="Trebuchet MS" panose="020B0603020202020204" pitchFamily="34" charset="0"/>
                <a:hlinkClick r:id="rId2"/>
              </a:rPr>
              <a:t>Reuters, 2024</a:t>
            </a:r>
            <a:r>
              <a:rPr lang="en-GB" sz="2600" dirty="0">
                <a:latin typeface="Trebuchet MS" panose="020B0603020202020204" pitchFamily="34" charset="0"/>
              </a:rPr>
              <a:t>)</a:t>
            </a:r>
          </a:p>
          <a:p>
            <a:r>
              <a:rPr lang="en-GB" sz="2600" dirty="0">
                <a:latin typeface="Trebuchet MS" panose="020B0603020202020204" pitchFamily="34" charset="0"/>
              </a:rPr>
              <a:t>In September 2025, NVIDIA invested $5 Billion as part of a partnership to co-develop data centres and PC CPUs.</a:t>
            </a:r>
          </a:p>
          <a:p>
            <a:r>
              <a:rPr lang="en-GB" sz="2600" dirty="0">
                <a:latin typeface="Trebuchet MS" panose="020B0603020202020204" pitchFamily="34" charset="0"/>
              </a:rPr>
              <a:t>Enables Intel x86 CPUs to integrate with NVIDIA’s AI and data centre platforms.</a:t>
            </a:r>
          </a:p>
          <a:p>
            <a:r>
              <a:rPr lang="en-GB" sz="2600" dirty="0">
                <a:latin typeface="Trebuchet MS" panose="020B0603020202020204" pitchFamily="34" charset="0"/>
              </a:rPr>
              <a:t>NVIDIA agreed to buy Intel shares at $23.28 per share.</a:t>
            </a:r>
          </a:p>
          <a:p>
            <a:r>
              <a:rPr lang="en-GB" sz="2600" dirty="0">
                <a:latin typeface="Trebuchet MS" panose="020B0603020202020204" pitchFamily="34" charset="0"/>
              </a:rPr>
              <a:t>Recent NVIDIA product announcements highlight growing competition in areas where Intel has traditionally been strong.</a:t>
            </a:r>
          </a:p>
        </p:txBody>
      </p:sp>
    </p:spTree>
    <p:extLst>
      <p:ext uri="{BB962C8B-B14F-4D97-AF65-F5344CB8AC3E}">
        <p14:creationId xmlns:p14="http://schemas.microsoft.com/office/powerpoint/2010/main" val="2019462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4C8613-8066-B5C4-9802-A881D1252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GB" sz="3400">
                <a:latin typeface="Trebuchet MS" panose="020B0603020202020204" pitchFamily="34" charset="0"/>
              </a:rPr>
              <a:t>NVIDIA vs Intel: Diverging After the AI Boom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09A8638-3CAD-31CF-6D99-13390585F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GB" sz="2000" noProof="0">
                <a:latin typeface="Trebuchet MS" panose="020B0603020202020204" pitchFamily="34" charset="0"/>
              </a:rPr>
              <a:t>NVIDIA capitalized on the AI Boom through early investment in GPUs and data centre infrastructure.</a:t>
            </a:r>
          </a:p>
          <a:p>
            <a:r>
              <a:rPr lang="en-GB" sz="2000" noProof="0">
                <a:latin typeface="Trebuchet MS" panose="020B0603020202020204" pitchFamily="34" charset="0"/>
              </a:rPr>
              <a:t>Intel struggled to keep pace, with revenue remaining comparatively flat after slower adaption to AI acceleration.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EF206F39-3DF5-9BD4-38D6-501A6F0F38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3694586"/>
              </p:ext>
            </p:extLst>
          </p:nvPr>
        </p:nvGraphicFramePr>
        <p:xfrm>
          <a:off x="4654296" y="640080"/>
          <a:ext cx="6903720" cy="5577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399250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B0C32F-AA5E-7A49-5C82-DEE852477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GB" sz="5400" dirty="0">
                <a:latin typeface="Trebuchet MS" panose="020B0603020202020204" pitchFamily="34" charset="0"/>
              </a:rPr>
              <a:t>Resources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8F24C-784F-3678-859E-5AF0E17B9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GB" sz="2600" dirty="0">
                <a:latin typeface="Trebuchet MS" panose="020B0603020202020204" pitchFamily="34" charset="0"/>
              </a:rPr>
              <a:t>To see how I extracted, transformed and loaded the data via web scraping and APIs, view the notebook </a:t>
            </a:r>
            <a:r>
              <a:rPr lang="en-GB" sz="2600" dirty="0">
                <a:latin typeface="Trebuchet MS" panose="020B0603020202020204" pitchFamily="34" charset="0"/>
                <a:hlinkClick r:id="rId2"/>
              </a:rPr>
              <a:t>here</a:t>
            </a:r>
            <a:endParaRPr lang="en-GB" sz="2600" dirty="0">
              <a:latin typeface="Trebuchet MS" panose="020B0603020202020204" pitchFamily="34" charset="0"/>
            </a:endParaRPr>
          </a:p>
          <a:p>
            <a:r>
              <a:rPr lang="en-GB" sz="2600" dirty="0">
                <a:latin typeface="Trebuchet MS" panose="020B0603020202020204" pitchFamily="34" charset="0"/>
                <a:hlinkClick r:id="rId3"/>
              </a:rPr>
              <a:t>NVIDIA’s quarterly revenue</a:t>
            </a:r>
            <a:endParaRPr lang="en-GB" sz="2600" dirty="0">
              <a:latin typeface="Trebuchet MS" panose="020B0603020202020204" pitchFamily="34" charset="0"/>
            </a:endParaRPr>
          </a:p>
          <a:p>
            <a:r>
              <a:rPr lang="en-GB" sz="2600" dirty="0">
                <a:latin typeface="Trebuchet MS" panose="020B0603020202020204" pitchFamily="34" charset="0"/>
                <a:hlinkClick r:id="rId4"/>
              </a:rPr>
              <a:t>NVIDIA’s share price 3-months</a:t>
            </a:r>
            <a:endParaRPr lang="en-GB" sz="2600" dirty="0">
              <a:latin typeface="Trebuchet MS" panose="020B0603020202020204" pitchFamily="34" charset="0"/>
            </a:endParaRPr>
          </a:p>
          <a:p>
            <a:r>
              <a:rPr lang="en-GB" sz="2600" dirty="0">
                <a:latin typeface="Trebuchet MS" panose="020B0603020202020204" pitchFamily="34" charset="0"/>
                <a:hlinkClick r:id="rId5"/>
              </a:rPr>
              <a:t>NVIDIA Excel Workbook</a:t>
            </a:r>
            <a:endParaRPr lang="en-GB" sz="2600" dirty="0">
              <a:latin typeface="Trebuchet MS" panose="020B0603020202020204" pitchFamily="34" charset="0"/>
            </a:endParaRPr>
          </a:p>
          <a:p>
            <a:r>
              <a:rPr lang="en-GB" sz="2600" dirty="0">
                <a:latin typeface="Trebuchet MS" panose="020B0603020202020204" pitchFamily="34" charset="0"/>
                <a:hlinkClick r:id="rId6"/>
              </a:rPr>
              <a:t>Intel’s quarterly revenue</a:t>
            </a:r>
            <a:endParaRPr lang="en-GB" sz="2600" dirty="0">
              <a:latin typeface="Trebuchet MS" panose="020B0603020202020204" pitchFamily="34" charset="0"/>
            </a:endParaRPr>
          </a:p>
          <a:p>
            <a:r>
              <a:rPr lang="en-GB" sz="2600" dirty="0">
                <a:latin typeface="Trebuchet MS" panose="020B0603020202020204" pitchFamily="34" charset="0"/>
                <a:hlinkClick r:id="rId7"/>
              </a:rPr>
              <a:t>Intel’s share price 3-months</a:t>
            </a:r>
            <a:endParaRPr lang="en-GB" sz="2600" dirty="0">
              <a:latin typeface="Trebuchet MS" panose="020B0603020202020204" pitchFamily="34" charset="0"/>
            </a:endParaRPr>
          </a:p>
          <a:p>
            <a:r>
              <a:rPr lang="en-GB" sz="2600" dirty="0">
                <a:latin typeface="Trebuchet MS" panose="020B0603020202020204" pitchFamily="34" charset="0"/>
                <a:hlinkClick r:id="rId8"/>
              </a:rPr>
              <a:t>Intel Excel Workbook</a:t>
            </a:r>
            <a:endParaRPr lang="en-GB" sz="26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8590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1134</Words>
  <Application>Microsoft Office PowerPoint</Application>
  <PresentationFormat>Widescreen</PresentationFormat>
  <Paragraphs>104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Trebuchet MS</vt:lpstr>
      <vt:lpstr>Office Theme</vt:lpstr>
      <vt:lpstr>Grayce  Graduate Data Consultant</vt:lpstr>
      <vt:lpstr>About Me</vt:lpstr>
      <vt:lpstr>Education &amp; Skills</vt:lpstr>
      <vt:lpstr>My Experiences</vt:lpstr>
      <vt:lpstr>Why Grayce?</vt:lpstr>
      <vt:lpstr>Data Skills</vt:lpstr>
      <vt:lpstr>NVIDIA</vt:lpstr>
      <vt:lpstr>How they became successful?</vt:lpstr>
      <vt:lpstr>The AI Boom</vt:lpstr>
      <vt:lpstr>NVIDIA Revenue</vt:lpstr>
      <vt:lpstr>NVIDIA Currently</vt:lpstr>
      <vt:lpstr>NVIDIA Share Price</vt:lpstr>
      <vt:lpstr>Intel Share Price</vt:lpstr>
      <vt:lpstr>Intel</vt:lpstr>
      <vt:lpstr>Intel’s Struggle to Adapt</vt:lpstr>
      <vt:lpstr>Intel’s Performance</vt:lpstr>
      <vt:lpstr>Intel and NVIDIA</vt:lpstr>
      <vt:lpstr>NVIDIA vs Intel: Diverging After the AI Boom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Thompson</dc:creator>
  <cp:lastModifiedBy>Alexander Thompson</cp:lastModifiedBy>
  <cp:revision>13</cp:revision>
  <dcterms:created xsi:type="dcterms:W3CDTF">2026-05-28T14:59:35Z</dcterms:created>
  <dcterms:modified xsi:type="dcterms:W3CDTF">2026-06-05T12:22:48Z</dcterms:modified>
</cp:coreProperties>
</file>